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6"/>
  </p:notesMasterIdLst>
  <p:sldIdLst>
    <p:sldId id="256" r:id="rId2"/>
    <p:sldId id="257" r:id="rId3"/>
    <p:sldId id="264" r:id="rId4"/>
    <p:sldId id="267" r:id="rId5"/>
    <p:sldId id="269" r:id="rId6"/>
    <p:sldId id="261" r:id="rId7"/>
    <p:sldId id="262" r:id="rId8"/>
    <p:sldId id="263" r:id="rId9"/>
    <p:sldId id="276" r:id="rId10"/>
    <p:sldId id="289" r:id="rId11"/>
    <p:sldId id="281" r:id="rId12"/>
    <p:sldId id="287" r:id="rId13"/>
    <p:sldId id="288" r:id="rId14"/>
    <p:sldId id="290" r:id="rId15"/>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3" roundtripDataSignature="AMtx7mi8k4vfTcigBOvi1GPtpHoS9j9jS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1498" y="5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33" Type="http://customschemas.google.com/relationships/presentationmetadata" Target="metadata"/><Relationship Id="rId2" Type="http://schemas.openxmlformats.org/officeDocument/2006/relationships/slide" Target="slides/slide1.xml"/><Relationship Id="rId1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36"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3364276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F52E3F71-7451-6D13-FA4E-0EAD4236B175}"/>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65106A2A-DDA7-D105-89FB-1D4B366FC12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045C6A33-BD6E-29DF-6145-21077092DFFC}"/>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7206029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00B04A14-B1AD-164D-A176-E84C0C9BDF47}"/>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17DC9E07-C9E7-E672-F161-483823C1FBC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B56A1E49-3EC6-1397-82AC-3B6FB96E8737}"/>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8144396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2B37E976-6C3B-FB17-A106-146D89B5D343}"/>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04C0C30F-2E44-A8A6-091D-ACD44551C81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ACE6824D-504F-1404-8A5B-D0DB24A9DD46}"/>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4928305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984AFA1B-4CFE-3E5E-F4B9-A0947F073AB4}"/>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7EC209D0-2ED4-A759-0822-4DC764266AA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33707B65-BF74-85FC-1D04-63CEAB918F0D}"/>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164341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66BD3F0C-7C69-626B-625C-26801F4DC662}"/>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FD2E99C2-5334-9B50-5921-EB1C8C57ABB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5AF2BE73-986C-A577-08FF-5835208260E7}"/>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741754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FD3E4A84-98CA-BFE6-75EC-12CEA7A75A58}"/>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80463BC9-6DDF-C4F3-3A99-24D4A5AB9CB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77BA4E0C-44CC-91D5-5969-89B2EF437FE0}"/>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4252215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F761F5FB-4B41-2F2B-D9BB-0061D88B73BE}"/>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9196C9AB-7B71-DFD7-F238-5F9E77EF561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A32A0A85-EB87-7BA6-733F-752FC3F77AF1}"/>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7946916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0DA35AB2-262C-81E8-9F7B-583192AD9EC2}"/>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6D574BA2-9FCD-52A9-BABA-172975F0D2E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343BB1D6-0E79-01DE-C7DE-462FC63948A6}"/>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9318282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2D7D7C69-ACC6-2C2D-7AE5-A7490B47632D}"/>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9F66B1BF-9EC3-A85D-BE21-EEED5ACD1A7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0EE0C01B-6048-8E69-0E4C-89C5D599B666}"/>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7135532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B4E85DCE-2140-1FA6-CED4-5AD739840460}"/>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DE132CB0-E403-CE35-144C-F31458AEAFB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D9B99327-67E1-4D1F-0868-8BA317521F6E}"/>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5116412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9B931708-1302-D6FD-1362-6AAC276C2C03}"/>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E7DBC8D1-5912-9873-EF31-5BBD03E18E1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62472789-73CD-F42B-4B4F-42CDFC41B134}"/>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7901960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C8A6EBFF-B8A7-AD10-529A-06E97492757D}"/>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1CD570FB-6C46-4A1E-9B52-3FA35FF6BF9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01F17A73-11AC-F74F-272A-15941E5C16FC}"/>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3362944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9844078D-FD83-4DC4-87B5-6EAC763D5906}" type="datetime1">
              <a:rPr lang="en-US" smtClean="0"/>
              <a:t>11/8/2025</a:t>
            </a:fld>
            <a:endParaRPr/>
          </a:p>
        </p:txBody>
      </p:sp>
      <p:sp>
        <p:nvSpPr>
          <p:cNvPr id="19" name="Google Shape;19;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11DF9AFC-F9E1-4479-91CA-51DE23BE06C0}" type="datetime1">
              <a:rPr lang="en-US" smtClean="0"/>
              <a:t>11/8/2025</a:t>
            </a:fld>
            <a:endParaRPr/>
          </a:p>
        </p:txBody>
      </p:sp>
      <p:sp>
        <p:nvSpPr>
          <p:cNvPr id="25" name="Google Shape;25;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9"/>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19FC8BA9-0052-4A4B-AAC4-F1DA6E9A0951}" type="datetime1">
              <a:rPr lang="en-US" smtClean="0"/>
              <a:t>11/8/2025</a:t>
            </a:fld>
            <a:endParaRPr/>
          </a:p>
        </p:txBody>
      </p:sp>
      <p:sp>
        <p:nvSpPr>
          <p:cNvPr id="31" name="Google Shape;31;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0"/>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1EE5975C-54BF-4B80-AA1D-34FEDE04C514}" type="datetime1">
              <a:rPr lang="en-US" smtClean="0"/>
              <a:t>11/8/2025</a:t>
            </a:fld>
            <a:endParaRPr/>
          </a:p>
        </p:txBody>
      </p:sp>
      <p:sp>
        <p:nvSpPr>
          <p:cNvPr id="38" name="Google Shape;38;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1"/>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1"/>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1"/>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6935E131-B057-4B5A-921A-45A17AB83A39}" type="datetime1">
              <a:rPr lang="en-US" smtClean="0"/>
              <a:t>11/8/2025</a:t>
            </a:fld>
            <a:endParaRPr/>
          </a:p>
        </p:txBody>
      </p:sp>
      <p:sp>
        <p:nvSpPr>
          <p:cNvPr id="47" name="Google Shape;47;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1D410C21-D32E-4039-AC8D-8060CCD087C7}" type="datetime1">
              <a:rPr lang="en-US" smtClean="0"/>
              <a:t>11/8/2025</a:t>
            </a:fld>
            <a:endParaRPr/>
          </a:p>
        </p:txBody>
      </p:sp>
      <p:sp>
        <p:nvSpPr>
          <p:cNvPr id="52" name="Google Shape;5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0A53B7AA-96E4-419F-92E0-36D1AA42338F}" type="datetime1">
              <a:rPr lang="en-US" smtClean="0"/>
              <a:t>11/8/2025</a:t>
            </a:fld>
            <a:endParaRPr/>
          </a:p>
        </p:txBody>
      </p:sp>
      <p:sp>
        <p:nvSpPr>
          <p:cNvPr id="56" name="Google Shape;56;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1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7842470F-944B-4F77-8D45-B63A55CC33FF}" type="datetime1">
              <a:rPr lang="en-US" smtClean="0"/>
              <a:t>11/8/2025</a:t>
            </a:fld>
            <a:endParaRPr/>
          </a:p>
        </p:txBody>
      </p:sp>
      <p:sp>
        <p:nvSpPr>
          <p:cNvPr id="63" name="Google Shape;63;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5"/>
          <p:cNvSpPr>
            <a:spLocks noGrp="1"/>
          </p:cNvSpPr>
          <p:nvPr>
            <p:ph type="pic" idx="2"/>
          </p:nvPr>
        </p:nvSpPr>
        <p:spPr>
          <a:xfrm>
            <a:off x="1792288" y="612775"/>
            <a:ext cx="5486400" cy="4114800"/>
          </a:xfrm>
          <a:prstGeom prst="rect">
            <a:avLst/>
          </a:prstGeom>
          <a:noFill/>
          <a:ln>
            <a:noFill/>
          </a:ln>
        </p:spPr>
        <p:txBody>
          <a:bodyPr/>
          <a:lstStyle/>
          <a:p>
            <a:endParaRPr lang="en-IN"/>
          </a:p>
        </p:txBody>
      </p:sp>
      <p:sp>
        <p:nvSpPr>
          <p:cNvPr id="68" name="Google Shape;68;p1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B75A165D-5015-4ADC-9FF9-8C921860CB8C}" type="datetime1">
              <a:rPr lang="en-US" smtClean="0"/>
              <a:t>11/8/2025</a:t>
            </a:fld>
            <a:endParaRPr/>
          </a:p>
        </p:txBody>
      </p:sp>
      <p:sp>
        <p:nvSpPr>
          <p:cNvPr id="70" name="Google Shape;70;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6D6CF090-41B5-4D51-B0EA-9CC4891ED4B8}" type="datetime1">
              <a:rPr lang="en-US" smtClean="0"/>
              <a:t>11/8/2025</a:t>
            </a:fld>
            <a:endParaRPr/>
          </a:p>
        </p:txBody>
      </p:sp>
      <p:sp>
        <p:nvSpPr>
          <p:cNvPr id="76" name="Google Shape;76;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1BF1B794-8BE6-4F88-BEF5-2F4D1E5B30A1}" type="datetime1">
              <a:rPr lang="en-US" smtClean="0"/>
              <a:t>11/8/2025</a:t>
            </a:fld>
            <a:endParaRPr/>
          </a:p>
        </p:txBody>
      </p:sp>
      <p:sp>
        <p:nvSpPr>
          <p:cNvPr id="82" name="Google Shape;82;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9FC83D00-5052-4CBE-A416-5F7F5A2FF57A}" type="datetime1">
              <a:rPr lang="en-US" smtClean="0"/>
              <a:t>11/8/2025</a:t>
            </a:fld>
            <a:endParaRPr/>
          </a:p>
        </p:txBody>
      </p:sp>
      <p:sp>
        <p:nvSpPr>
          <p:cNvPr id="13" name="Google Shape;13;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hyperlink" Target="https://eudl.eu/doi/10.4108/eai.23-11-2023.2343226" TargetMode="External"/><Relationship Id="rId3" Type="http://schemas.openxmlformats.org/officeDocument/2006/relationships/image" Target="../media/image1.jpg"/><Relationship Id="rId7" Type="http://schemas.openxmlformats.org/officeDocument/2006/relationships/hyperlink" Target="https://jeeemi.org/index.php/jeeemi/article/view/690" TargetMode="External"/><Relationship Id="rId12" Type="http://schemas.openxmlformats.org/officeDocument/2006/relationships/hyperlink" Target="https://www.mdpi.com/2673-2688/6/9/226"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www.jait.us/index.php?m=content&amp;c=index&amp;a=show&amp;catid=114&amp;id=3276" TargetMode="External"/><Relationship Id="rId11" Type="http://schemas.openxmlformats.org/officeDocument/2006/relationships/hyperlink" Target="https://arxiv.org/abs/2502.04413" TargetMode="External"/><Relationship Id="rId5" Type="http://schemas.openxmlformats.org/officeDocument/2006/relationships/hyperlink" Target="https://www.sciencedirect.com/science/article/pii/S1746809424014290" TargetMode="External"/><Relationship Id="rId10" Type="http://schemas.openxmlformats.org/officeDocument/2006/relationships/hyperlink" Target="https://arxiv.org/abs/2504.07724" TargetMode="External"/><Relationship Id="rId4" Type="http://schemas.openxmlformats.org/officeDocument/2006/relationships/hyperlink" Target="https://www.kaggle.com/datasets/mdnafeesimtiaz/ct-scan-images-of-lung-cancer/data" TargetMode="External"/><Relationship Id="rId9" Type="http://schemas.openxmlformats.org/officeDocument/2006/relationships/hyperlink" Target="https://www.nature.com/articles/s41598-025-11513-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228601" y="2271713"/>
            <a:ext cx="8763000" cy="1892300"/>
          </a:xfrm>
          <a:prstGeom prst="rect">
            <a:avLst/>
          </a:prstGeom>
          <a:noFill/>
          <a:ln>
            <a:noFill/>
          </a:ln>
        </p:spPr>
        <p:txBody>
          <a:bodyPr spcFirstLastPara="1" wrap="square" lIns="91425" tIns="45700" rIns="91425" bIns="45700" anchor="ctr" anchorCtr="0">
            <a:noAutofit/>
          </a:bodyPr>
          <a:lstStyle/>
          <a:p>
            <a:pPr lvl="0">
              <a:buSzPts val="4400"/>
            </a:pPr>
            <a:r>
              <a:rPr lang="en-US" sz="3400" b="1" dirty="0"/>
              <a:t>Explainable AI for Multi-Class Lung Cancer Classification Using Deep Learning and RAG-Based Knowledge Retrieval</a:t>
            </a:r>
            <a:endParaRPr sz="3400" b="1" dirty="0">
              <a:latin typeface="Times New Roman" panose="02020603050405020304" pitchFamily="18" charset="0"/>
              <a:cs typeface="Times New Roman" panose="02020603050405020304" pitchFamily="18" charset="0"/>
            </a:endParaRPr>
          </a:p>
        </p:txBody>
      </p:sp>
      <p:sp>
        <p:nvSpPr>
          <p:cNvPr id="89" name="Google Shape;89;p1"/>
          <p:cNvSpPr txBox="1">
            <a:spLocks noGrp="1"/>
          </p:cNvSpPr>
          <p:nvPr>
            <p:ph type="subTitle" idx="1"/>
          </p:nvPr>
        </p:nvSpPr>
        <p:spPr>
          <a:xfrm>
            <a:off x="4386263" y="4586288"/>
            <a:ext cx="4605337" cy="1981200"/>
          </a:xfrm>
          <a:prstGeom prst="rect">
            <a:avLst/>
          </a:prstGeom>
          <a:noFill/>
          <a:ln>
            <a:noFill/>
          </a:ln>
        </p:spPr>
        <p:txBody>
          <a:bodyPr spcFirstLastPara="1" wrap="square" lIns="91425" tIns="45700" rIns="91425" bIns="45700" anchor="t" anchorCtr="0">
            <a:normAutofit fontScale="55000" lnSpcReduction="20000"/>
          </a:bodyPr>
          <a:lstStyle/>
          <a:p>
            <a:pPr marL="0" indent="0">
              <a:spcBef>
                <a:spcPts val="0"/>
              </a:spcBef>
              <a:buSzPct val="100000"/>
            </a:pPr>
            <a:r>
              <a:rPr lang="en-US" dirty="0">
                <a:latin typeface="Times New Roman" panose="02020603050405020304" pitchFamily="18" charset="0"/>
                <a:cs typeface="Times New Roman" panose="02020603050405020304" pitchFamily="18" charset="0"/>
              </a:rPr>
              <a:t>Batch ID:</a:t>
            </a:r>
          </a:p>
          <a:p>
            <a:pPr marL="0" lvl="0" indent="0" algn="ctr" rtl="0">
              <a:spcBef>
                <a:spcPts val="0"/>
              </a:spcBef>
              <a:spcAft>
                <a:spcPts val="0"/>
              </a:spcAft>
              <a:buClr>
                <a:srgbClr val="888888"/>
              </a:buClr>
              <a:buSzPct val="100000"/>
              <a:buNone/>
            </a:pPr>
            <a:endParaRPr lang="en-US" dirty="0">
              <a:latin typeface="Times New Roman" panose="02020603050405020304" pitchFamily="18" charset="0"/>
              <a:cs typeface="Times New Roman" panose="02020603050405020304" pitchFamily="18" charset="0"/>
            </a:endParaRPr>
          </a:p>
          <a:p>
            <a:pPr marL="0" lvl="0" indent="0" algn="ctr" rtl="0">
              <a:spcBef>
                <a:spcPts val="0"/>
              </a:spcBef>
              <a:spcAft>
                <a:spcPts val="0"/>
              </a:spcAft>
              <a:buClr>
                <a:srgbClr val="888888"/>
              </a:buClr>
              <a:buSzPct val="100000"/>
              <a:buNone/>
            </a:pPr>
            <a:r>
              <a:rPr lang="en-US" dirty="0">
                <a:latin typeface="Times New Roman" panose="02020603050405020304" pitchFamily="18" charset="0"/>
                <a:cs typeface="Times New Roman" panose="02020603050405020304" pitchFamily="18" charset="0"/>
              </a:rPr>
              <a:t>Student 1 Reg. No: RA2211003011213</a:t>
            </a:r>
            <a:endParaRPr dirty="0">
              <a:latin typeface="Times New Roman" panose="02020603050405020304" pitchFamily="18" charset="0"/>
              <a:cs typeface="Times New Roman" panose="02020603050405020304" pitchFamily="18" charset="0"/>
            </a:endParaRPr>
          </a:p>
          <a:p>
            <a:pPr marL="0" indent="0">
              <a:spcBef>
                <a:spcPts val="592"/>
              </a:spcBef>
              <a:buSzPct val="100000"/>
            </a:pPr>
            <a:r>
              <a:rPr lang="en-US" dirty="0">
                <a:latin typeface="Times New Roman" panose="02020603050405020304" pitchFamily="18" charset="0"/>
                <a:cs typeface="Times New Roman" panose="02020603050405020304" pitchFamily="18" charset="0"/>
              </a:rPr>
              <a:t>Student 1 Name: Saksham Mann</a:t>
            </a:r>
          </a:p>
          <a:p>
            <a:pPr marL="0" lvl="0" indent="0" algn="ctr" rtl="0">
              <a:spcBef>
                <a:spcPts val="592"/>
              </a:spcBef>
              <a:spcAft>
                <a:spcPts val="0"/>
              </a:spcAft>
              <a:buClr>
                <a:srgbClr val="888888"/>
              </a:buClr>
              <a:buSzPct val="100000"/>
              <a:buNone/>
            </a:pPr>
            <a:endParaRPr lang="en-US" dirty="0">
              <a:latin typeface="Times New Roman" panose="02020603050405020304" pitchFamily="18" charset="0"/>
              <a:cs typeface="Times New Roman" panose="02020603050405020304" pitchFamily="18" charset="0"/>
            </a:endParaRPr>
          </a:p>
          <a:p>
            <a:pPr marL="0" lvl="0" indent="0" algn="ctr" rtl="0">
              <a:spcBef>
                <a:spcPts val="592"/>
              </a:spcBef>
              <a:spcAft>
                <a:spcPts val="0"/>
              </a:spcAft>
              <a:buClr>
                <a:srgbClr val="888888"/>
              </a:buClr>
              <a:buSzPct val="100000"/>
              <a:buNone/>
            </a:pPr>
            <a:r>
              <a:rPr lang="en-US" dirty="0">
                <a:latin typeface="Times New Roman" panose="02020603050405020304" pitchFamily="18" charset="0"/>
                <a:cs typeface="Times New Roman" panose="02020603050405020304" pitchFamily="18" charset="0"/>
              </a:rPr>
              <a:t>Student 2 Reg. No: RA2211003011252</a:t>
            </a:r>
          </a:p>
          <a:p>
            <a:pPr marL="0" lvl="0" indent="0">
              <a:spcBef>
                <a:spcPts val="592"/>
              </a:spcBef>
              <a:buSzPct val="100000"/>
            </a:pPr>
            <a:r>
              <a:rPr lang="en-US" dirty="0">
                <a:latin typeface="Times New Roman" panose="02020603050405020304" pitchFamily="18" charset="0"/>
                <a:cs typeface="Times New Roman" panose="02020603050405020304" pitchFamily="18" charset="0"/>
              </a:rPr>
              <a:t>Student 2 Name: Chirag Agrawal</a:t>
            </a:r>
            <a:endParaRPr dirty="0">
              <a:latin typeface="Times New Roman" panose="02020603050405020304" pitchFamily="18" charset="0"/>
              <a:cs typeface="Times New Roman" panose="02020603050405020304" pitchFamily="18" charset="0"/>
            </a:endParaRPr>
          </a:p>
        </p:txBody>
      </p:sp>
      <p:pic>
        <p:nvPicPr>
          <p:cNvPr id="90" name="Google Shape;90;p1"/>
          <p:cNvPicPr preferRelativeResize="0"/>
          <p:nvPr/>
        </p:nvPicPr>
        <p:blipFill rotWithShape="1">
          <a:blip r:embed="rId3">
            <a:alphaModFix/>
          </a:blip>
          <a:srcRect/>
          <a:stretch/>
        </p:blipFill>
        <p:spPr>
          <a:xfrm>
            <a:off x="130796" y="676950"/>
            <a:ext cx="1619054" cy="554224"/>
          </a:xfrm>
          <a:prstGeom prst="rect">
            <a:avLst/>
          </a:prstGeom>
          <a:noFill/>
          <a:ln>
            <a:noFill/>
          </a:ln>
        </p:spPr>
      </p:pic>
      <p:sp>
        <p:nvSpPr>
          <p:cNvPr id="91" name="Google Shape;91;p1"/>
          <p:cNvSpPr/>
          <p:nvPr/>
        </p:nvSpPr>
        <p:spPr>
          <a:xfrm>
            <a:off x="1445246" y="676950"/>
            <a:ext cx="6357201" cy="147728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SRM INSTITUTE OF SCIENCE AND TECHNOLOGY </a:t>
            </a:r>
            <a:endParaRPr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ctr" rtl="0">
              <a:spcBef>
                <a:spcPts val="0"/>
              </a:spcBef>
              <a:spcAft>
                <a:spcPts val="0"/>
              </a:spcAft>
              <a:buNone/>
            </a:pPr>
            <a:r>
              <a:rPr lang="en-U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SCHOOL OF COMPUTING</a:t>
            </a:r>
            <a:endParaRPr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ctr" rtl="0">
              <a:spcBef>
                <a:spcPts val="0"/>
              </a:spcBef>
              <a:spcAft>
                <a:spcPts val="0"/>
              </a:spcAft>
              <a:buNone/>
            </a:pPr>
            <a:r>
              <a:rPr lang="en-U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DEPARTMENT OF COMPUTING TECHNOLOGIES</a:t>
            </a:r>
            <a:endParaRPr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ctr" rtl="0">
              <a:spcBef>
                <a:spcPts val="0"/>
              </a:spcBef>
              <a:spcAft>
                <a:spcPts val="0"/>
              </a:spcAft>
              <a:buNone/>
            </a:pPr>
            <a:r>
              <a:rPr lang="en-US" sz="1800" b="1" dirty="0">
                <a:solidFill>
                  <a:schemeClr val="dk1"/>
                </a:solidFill>
                <a:latin typeface="Times New Roman" panose="02020603050405020304" pitchFamily="18" charset="0"/>
                <a:ea typeface="Calibri"/>
                <a:cs typeface="Times New Roman" panose="02020603050405020304" pitchFamily="18" charset="0"/>
                <a:sym typeface="Calibri"/>
              </a:rPr>
              <a:t>21CSP401L – MAJOR PROJECT</a:t>
            </a:r>
            <a:r>
              <a:rPr lang="en-U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 </a:t>
            </a:r>
            <a:r>
              <a:rPr lang="en-US" sz="1800" b="1" dirty="0">
                <a:solidFill>
                  <a:schemeClr val="dk1"/>
                </a:solidFill>
                <a:latin typeface="Times New Roman" panose="02020603050405020304" pitchFamily="18" charset="0"/>
                <a:ea typeface="Calibri"/>
                <a:cs typeface="Times New Roman" panose="02020603050405020304" pitchFamily="18" charset="0"/>
                <a:sym typeface="Calibri"/>
              </a:rPr>
              <a:t>21</a:t>
            </a:r>
            <a:r>
              <a:rPr lang="en-U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CSP402L - MAJOR PROJECT AND 21CSP403L - INTERNSHI</a:t>
            </a:r>
            <a:r>
              <a:rPr lang="en-US" sz="1800" b="1" dirty="0">
                <a:solidFill>
                  <a:schemeClr val="dk1"/>
                </a:solidFill>
                <a:latin typeface="Times New Roman" panose="02020603050405020304" pitchFamily="18" charset="0"/>
                <a:ea typeface="Calibri"/>
                <a:cs typeface="Times New Roman" panose="02020603050405020304" pitchFamily="18" charset="0"/>
                <a:sym typeface="Calibri"/>
              </a:rPr>
              <a:t>P</a:t>
            </a:r>
            <a:endParaRPr lang="en-U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7" name="Google Shape;89;p1"/>
          <p:cNvSpPr txBox="1">
            <a:spLocks/>
          </p:cNvSpPr>
          <p:nvPr/>
        </p:nvSpPr>
        <p:spPr>
          <a:xfrm>
            <a:off x="228600" y="5243512"/>
            <a:ext cx="3471862" cy="1190625"/>
          </a:xfrm>
          <a:prstGeom prst="rect">
            <a:avLst/>
          </a:prstGeom>
          <a:noFill/>
          <a:ln>
            <a:noFill/>
          </a:ln>
        </p:spPr>
        <p:txBody>
          <a:bodyPr spcFirstLastPara="1" wrap="square" lIns="91425" tIns="45700" rIns="91425" bIns="45700" anchor="t" anchorCtr="0">
            <a:normAutofit fontScale="40000" lnSpcReduction="20000"/>
          </a:bodyPr>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L="914400" marR="0" lvl="1" indent="-406400" algn="ctr" rtl="0">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L="1371600" marR="0" lvl="2" indent="-381000" algn="ctr" rtl="0">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L="1828800" marR="0" lvl="3"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L="2286000" marR="0" lvl="4"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L="2743200" marR="0" lvl="5"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3200400" marR="0" lvl="6"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657600" marR="0" lvl="7"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4114800" marR="0" lvl="8"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pPr marL="0" indent="0">
              <a:lnSpc>
                <a:spcPct val="170000"/>
              </a:lnSpc>
              <a:spcBef>
                <a:spcPts val="592"/>
              </a:spcBef>
              <a:buSzPct val="100000"/>
            </a:pPr>
            <a:r>
              <a:rPr lang="en-US" dirty="0">
                <a:latin typeface="Times New Roman" panose="02020603050405020304" pitchFamily="18" charset="0"/>
                <a:cs typeface="Times New Roman" panose="02020603050405020304" pitchFamily="18" charset="0"/>
              </a:rPr>
              <a:t>Guide name: Dr. Vaishnavi J. </a:t>
            </a:r>
          </a:p>
          <a:p>
            <a:pPr marL="0" indent="0">
              <a:lnSpc>
                <a:spcPct val="170000"/>
              </a:lnSpc>
              <a:spcBef>
                <a:spcPts val="592"/>
              </a:spcBef>
              <a:buSzPct val="100000"/>
            </a:pPr>
            <a:r>
              <a:rPr lang="en-US" dirty="0">
                <a:latin typeface="Times New Roman" panose="02020603050405020304" pitchFamily="18" charset="0"/>
                <a:cs typeface="Times New Roman" panose="02020603050405020304" pitchFamily="18" charset="0"/>
              </a:rPr>
              <a:t>Designation: Assistant Professor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Department: Computing Technology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pic>
        <p:nvPicPr>
          <p:cNvPr id="98" name="Google Shape;98;p2"/>
          <p:cNvPicPr preferRelativeResize="0"/>
          <p:nvPr/>
        </p:nvPicPr>
        <p:blipFill rotWithShape="1">
          <a:blip r:embed="rId3">
            <a:alphaModFix/>
          </a:blip>
          <a:srcRect/>
          <a:stretch/>
        </p:blipFill>
        <p:spPr>
          <a:xfrm>
            <a:off x="0" y="99321"/>
            <a:ext cx="1345676" cy="454032"/>
          </a:xfrm>
          <a:prstGeom prst="rect">
            <a:avLst/>
          </a:prstGeom>
          <a:noFill/>
          <a:ln>
            <a:noFill/>
          </a:ln>
        </p:spPr>
      </p:pic>
      <p:sp>
        <p:nvSpPr>
          <p:cNvPr id="96" name="Google Shape;96;p2"/>
          <p:cNvSpPr txBox="1">
            <a:spLocks noGrp="1"/>
          </p:cNvSpPr>
          <p:nvPr>
            <p:ph type="title"/>
          </p:nvPr>
        </p:nvSpPr>
        <p:spPr>
          <a:xfrm>
            <a:off x="457200" y="657050"/>
            <a:ext cx="8229600" cy="1143000"/>
          </a:xfrm>
          <a:prstGeom prst="rect">
            <a:avLst/>
          </a:prstGeom>
          <a:noFill/>
          <a:ln>
            <a:noFill/>
          </a:ln>
        </p:spPr>
        <p:txBody>
          <a:bodyPr spcFirstLastPara="1" wrap="square" lIns="91425" tIns="45700" rIns="91425" bIns="45700" anchor="ctr" anchorCtr="0">
            <a:normAutofit fontScale="90000"/>
          </a:bodyPr>
          <a:lstStyle/>
          <a:p>
            <a:pPr>
              <a:buSzPts val="4400"/>
            </a:pPr>
            <a:r>
              <a:rPr lang="en-IN" b="1" dirty="0"/>
              <a:t>Problem Identification &amp; Formulation</a:t>
            </a:r>
            <a:br>
              <a:rPr lang="en-IN" b="1" dirty="0"/>
            </a:br>
            <a:endParaRPr dirty="0"/>
          </a:p>
        </p:txBody>
      </p:sp>
      <p:sp>
        <p:nvSpPr>
          <p:cNvPr id="99" name="Google Shape;9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fld id="{D15CBDC1-4D60-49C2-8F68-274855D002DB}" type="datetime1">
              <a:rPr lang="en-US" smtClean="0"/>
              <a:t>11/8/2025</a:t>
            </a:fld>
            <a:endParaRPr dirty="0"/>
          </a:p>
        </p:txBody>
      </p:sp>
      <p:sp>
        <p:nvSpPr>
          <p:cNvPr id="100" name="Google Shape;100;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01" name="Google Shape;10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
        <p:nvSpPr>
          <p:cNvPr id="7" name="Rectangle 5">
            <a:extLst>
              <a:ext uri="{FF2B5EF4-FFF2-40B4-BE49-F238E27FC236}">
                <a16:creationId xmlns:a16="http://schemas.microsoft.com/office/drawing/2014/main" id="{1490A91F-F235-1A48-4CCB-20D676282927}"/>
              </a:ext>
            </a:extLst>
          </p:cNvPr>
          <p:cNvSpPr>
            <a:spLocks noGrp="1" noChangeArrowheads="1"/>
          </p:cNvSpPr>
          <p:nvPr>
            <p:ph type="body" idx="1"/>
          </p:nvPr>
        </p:nvSpPr>
        <p:spPr bwMode="auto">
          <a:xfrm>
            <a:off x="672838" y="1456521"/>
            <a:ext cx="7706412" cy="5416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spcBef>
                <a:spcPct val="0"/>
              </a:spcBef>
              <a:spcAft>
                <a:spcPct val="0"/>
              </a:spcAft>
              <a:buClrTx/>
              <a:buSzTx/>
              <a:buNone/>
            </a:pPr>
            <a:r>
              <a:rPr lang="en-US" altLang="en-US" sz="1600" b="1" dirty="0">
                <a:solidFill>
                  <a:schemeClr val="tx1"/>
                </a:solidFill>
                <a:latin typeface="Calibri" panose="020F0502020204030204" pitchFamily="34" charset="0"/>
                <a:ea typeface="Calibri" panose="020F0502020204030204" pitchFamily="34" charset="0"/>
                <a:cs typeface="Calibri" panose="020F0502020204030204" pitchFamily="34" charset="0"/>
              </a:rPr>
              <a:t>Global Problems:</a:t>
            </a:r>
            <a:r>
              <a:rPr lang="en-US" altLang="en-US" sz="1400" dirty="0">
                <a:solidFill>
                  <a:schemeClr val="tx1"/>
                </a:solidFill>
                <a:latin typeface="+mj-lt"/>
                <a:ea typeface="Calibri" panose="020F0502020204030204" pitchFamily="34" charset="0"/>
                <a:cs typeface="Calibri" panose="020F0502020204030204" pitchFamily="34" charset="0"/>
              </a:rPr>
              <a:t> </a:t>
            </a:r>
            <a:endParaRPr kumimoji="0" lang="en-US" altLang="en-US" sz="16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endParaRPr>
          </a:p>
          <a:p>
            <a:pPr marL="285750" indent="-285750" eaLnBrk="0" fontAlgn="base" hangingPunct="0">
              <a:spcBef>
                <a:spcPct val="0"/>
              </a:spcBef>
              <a:spcAft>
                <a:spcPct val="0"/>
              </a:spcAft>
              <a:buClrTx/>
              <a:buSzTx/>
            </a:pPr>
            <a:r>
              <a:rPr lang="en-US" sz="1400" dirty="0">
                <a:latin typeface="+mj-lt"/>
              </a:rPr>
              <a:t>Lung cancer is the 3rd most common cancer worldwide</a:t>
            </a:r>
          </a:p>
          <a:p>
            <a:pPr marL="285750" indent="-285750" eaLnBrk="0" fontAlgn="base" hangingPunct="0">
              <a:spcBef>
                <a:spcPct val="0"/>
              </a:spcBef>
              <a:spcAft>
                <a:spcPct val="0"/>
              </a:spcAft>
              <a:buClrTx/>
              <a:buSzTx/>
            </a:pPr>
            <a:r>
              <a:rPr lang="en-US" sz="1400" dirty="0">
                <a:latin typeface="+mj-lt"/>
              </a:rPr>
              <a:t>Has the highest mortality rate among all cancers</a:t>
            </a:r>
          </a:p>
          <a:p>
            <a:pPr marL="285750" indent="-285750" eaLnBrk="0" fontAlgn="base" hangingPunct="0">
              <a:spcBef>
                <a:spcPct val="0"/>
              </a:spcBef>
              <a:spcAft>
                <a:spcPct val="0"/>
              </a:spcAft>
              <a:buClrTx/>
              <a:buSzTx/>
            </a:pPr>
            <a:r>
              <a:rPr lang="en-US" sz="1400" dirty="0">
                <a:latin typeface="+mj-lt"/>
              </a:rPr>
              <a:t>2.48 million new cases reported in 2022</a:t>
            </a:r>
          </a:p>
          <a:p>
            <a:pPr marL="285750" indent="-285750" eaLnBrk="0" fontAlgn="base" hangingPunct="0">
              <a:spcBef>
                <a:spcPct val="0"/>
              </a:spcBef>
              <a:spcAft>
                <a:spcPct val="0"/>
              </a:spcAft>
              <a:buClrTx/>
              <a:buSzTx/>
            </a:pPr>
            <a:r>
              <a:rPr lang="en-US" sz="1400" dirty="0">
                <a:latin typeface="+mj-lt"/>
              </a:rPr>
              <a:t>5-year survival rate: ~28.4%</a:t>
            </a:r>
          </a:p>
          <a:p>
            <a:pPr marL="285750" indent="-285750" eaLnBrk="0" fontAlgn="base" hangingPunct="0">
              <a:spcBef>
                <a:spcPct val="0"/>
              </a:spcBef>
              <a:spcAft>
                <a:spcPct val="0"/>
              </a:spcAft>
              <a:buClrTx/>
              <a:buSzTx/>
            </a:pPr>
            <a:r>
              <a:rPr lang="en-US" sz="1400" dirty="0">
                <a:latin typeface="+mj-lt"/>
              </a:rPr>
              <a:t>50–70% diagnosed at metastatic stage, leading to poor outcomes</a:t>
            </a:r>
          </a:p>
          <a:p>
            <a:pPr marL="285750" indent="-285750" eaLnBrk="0" fontAlgn="base" hangingPunct="0">
              <a:spcBef>
                <a:spcPct val="0"/>
              </a:spcBef>
              <a:spcAft>
                <a:spcPct val="0"/>
              </a:spcAft>
              <a:buClrTx/>
              <a:buSzTx/>
            </a:pPr>
            <a:endParaRPr lang="en-US" sz="1400" dirty="0">
              <a:latin typeface="+mj-lt"/>
            </a:endParaRPr>
          </a:p>
          <a:p>
            <a:pPr marL="0" indent="0" eaLnBrk="0" fontAlgn="base" hangingPunct="0">
              <a:spcBef>
                <a:spcPct val="0"/>
              </a:spcBef>
              <a:spcAft>
                <a:spcPct val="0"/>
              </a:spcAft>
              <a:buClrTx/>
              <a:buSzTx/>
              <a:buNone/>
            </a:pPr>
            <a:r>
              <a:rPr lang="en-US" sz="1600" b="1" dirty="0">
                <a:latin typeface="Calibri" panose="020F0502020204030204" pitchFamily="34" charset="0"/>
                <a:ea typeface="Calibri" panose="020F0502020204030204" pitchFamily="34" charset="0"/>
                <a:cs typeface="Calibri" panose="020F0502020204030204" pitchFamily="34" charset="0"/>
              </a:rPr>
              <a:t>Subtyping Problem: </a:t>
            </a:r>
          </a:p>
          <a:p>
            <a:pPr marL="285750" indent="-285750" eaLnBrk="0" fontAlgn="base" hangingPunct="0">
              <a:spcBef>
                <a:spcPct val="0"/>
              </a:spcBef>
              <a:spcAft>
                <a:spcPct val="0"/>
              </a:spcAft>
              <a:buClrTx/>
              <a:buSzTx/>
            </a:pPr>
            <a:r>
              <a:rPr lang="en-US" sz="1400" dirty="0">
                <a:latin typeface="+mj-lt"/>
                <a:ea typeface="Calibri" panose="020F0502020204030204" pitchFamily="34" charset="0"/>
                <a:cs typeface="Calibri" panose="020F0502020204030204" pitchFamily="34" charset="0"/>
              </a:rPr>
              <a:t>~85% of lung cancers are Non-Small Cell Lung Cancer (NSCLC)</a:t>
            </a:r>
          </a:p>
          <a:p>
            <a:pPr marL="285750" indent="-285750" eaLnBrk="0" fontAlgn="base" hangingPunct="0">
              <a:spcBef>
                <a:spcPct val="0"/>
              </a:spcBef>
              <a:spcAft>
                <a:spcPct val="0"/>
              </a:spcAft>
              <a:buClrTx/>
              <a:buSzTx/>
            </a:pPr>
            <a:r>
              <a:rPr lang="en-US" sz="1400" dirty="0">
                <a:latin typeface="+mj-lt"/>
                <a:ea typeface="Calibri" panose="020F0502020204030204" pitchFamily="34" charset="0"/>
                <a:cs typeface="Calibri" panose="020F0502020204030204" pitchFamily="34" charset="0"/>
              </a:rPr>
              <a:t>Major subtypes:</a:t>
            </a:r>
          </a:p>
          <a:p>
            <a:pPr marL="742950" lvl="1" indent="-285750" eaLnBrk="0" fontAlgn="base" hangingPunct="0">
              <a:spcBef>
                <a:spcPct val="0"/>
              </a:spcBef>
              <a:spcAft>
                <a:spcPct val="0"/>
              </a:spcAft>
              <a:buClrTx/>
              <a:buSzTx/>
            </a:pPr>
            <a:r>
              <a:rPr lang="en-US" sz="1000" dirty="0">
                <a:latin typeface="+mj-lt"/>
                <a:ea typeface="Calibri" panose="020F0502020204030204" pitchFamily="34" charset="0"/>
                <a:cs typeface="Calibri" panose="020F0502020204030204" pitchFamily="34" charset="0"/>
              </a:rPr>
              <a:t>Adenocarcinoma: ~40%</a:t>
            </a:r>
          </a:p>
          <a:p>
            <a:pPr marL="742950" lvl="1" indent="-285750" eaLnBrk="0" fontAlgn="base" hangingPunct="0">
              <a:spcBef>
                <a:spcPct val="0"/>
              </a:spcBef>
              <a:spcAft>
                <a:spcPct val="0"/>
              </a:spcAft>
              <a:buClrTx/>
              <a:buSzTx/>
            </a:pPr>
            <a:r>
              <a:rPr lang="en-US" sz="1000" dirty="0">
                <a:latin typeface="+mj-lt"/>
                <a:ea typeface="Calibri" panose="020F0502020204030204" pitchFamily="34" charset="0"/>
                <a:cs typeface="Calibri" panose="020F0502020204030204" pitchFamily="34" charset="0"/>
              </a:rPr>
              <a:t>Squamous Cell Carcinoma: 2nd most common</a:t>
            </a:r>
          </a:p>
          <a:p>
            <a:pPr marL="742950" lvl="1" indent="-285750" eaLnBrk="0" fontAlgn="base" hangingPunct="0">
              <a:spcBef>
                <a:spcPct val="0"/>
              </a:spcBef>
              <a:spcAft>
                <a:spcPct val="0"/>
              </a:spcAft>
              <a:buClrTx/>
              <a:buSzTx/>
            </a:pPr>
            <a:r>
              <a:rPr lang="en-US" sz="1000" dirty="0">
                <a:latin typeface="+mj-lt"/>
                <a:ea typeface="Calibri" panose="020F0502020204030204" pitchFamily="34" charset="0"/>
                <a:cs typeface="Calibri" panose="020F0502020204030204" pitchFamily="34" charset="0"/>
              </a:rPr>
              <a:t>Large Cell Carcinoma: rare, aggressive</a:t>
            </a:r>
          </a:p>
          <a:p>
            <a:pPr marL="285750" indent="-285750" eaLnBrk="0" fontAlgn="base" hangingPunct="0">
              <a:spcBef>
                <a:spcPct val="0"/>
              </a:spcBef>
              <a:spcAft>
                <a:spcPct val="0"/>
              </a:spcAft>
              <a:buClrTx/>
              <a:buSzTx/>
            </a:pPr>
            <a:r>
              <a:rPr lang="en-US" sz="1400" dirty="0">
                <a:latin typeface="+mj-lt"/>
                <a:ea typeface="Calibri" panose="020F0502020204030204" pitchFamily="34" charset="0"/>
                <a:cs typeface="Calibri" panose="020F0502020204030204" pitchFamily="34" charset="0"/>
              </a:rPr>
              <a:t>Accurate subtyping is critical for targeted therapy and personalized treatment</a:t>
            </a:r>
          </a:p>
          <a:p>
            <a:pPr marL="0" indent="0" eaLnBrk="0" fontAlgn="base" hangingPunct="0">
              <a:spcBef>
                <a:spcPct val="0"/>
              </a:spcBef>
              <a:spcAft>
                <a:spcPct val="0"/>
              </a:spcAft>
              <a:buClrTx/>
              <a:buSzTx/>
              <a:buNone/>
            </a:pPr>
            <a:endParaRPr lang="en-US" sz="1400" dirty="0">
              <a:latin typeface="+mj-lt"/>
              <a:ea typeface="Calibri" panose="020F0502020204030204" pitchFamily="34" charset="0"/>
              <a:cs typeface="Calibri" panose="020F0502020204030204" pitchFamily="34" charset="0"/>
            </a:endParaRPr>
          </a:p>
          <a:p>
            <a:pPr marL="0" indent="0" eaLnBrk="0" fontAlgn="base" hangingPunct="0">
              <a:spcBef>
                <a:spcPct val="0"/>
              </a:spcBef>
              <a:spcAft>
                <a:spcPct val="0"/>
              </a:spcAft>
              <a:buClrTx/>
              <a:buSzTx/>
              <a:buNone/>
            </a:pPr>
            <a:r>
              <a:rPr lang="en-US" sz="1600" b="1" dirty="0">
                <a:latin typeface="Calibri" panose="020F0502020204030204" pitchFamily="34" charset="0"/>
                <a:ea typeface="Calibri" panose="020F0502020204030204" pitchFamily="34" charset="0"/>
                <a:cs typeface="Calibri" panose="020F0502020204030204" pitchFamily="34" charset="0"/>
              </a:rPr>
              <a:t>Trust Problems:</a:t>
            </a:r>
          </a:p>
          <a:p>
            <a:pPr marL="285750" indent="-285750" eaLnBrk="0" fontAlgn="base" hangingPunct="0">
              <a:spcBef>
                <a:spcPct val="0"/>
              </a:spcBef>
              <a:spcAft>
                <a:spcPct val="0"/>
              </a:spcAft>
              <a:buClrTx/>
              <a:buSzTx/>
            </a:pPr>
            <a:r>
              <a:rPr lang="en-US" sz="1400" dirty="0">
                <a:latin typeface="+mj-lt"/>
                <a:ea typeface="Calibri" panose="020F0502020204030204" pitchFamily="34" charset="0"/>
                <a:cs typeface="Calibri" panose="020F0502020204030204" pitchFamily="34" charset="0"/>
              </a:rPr>
              <a:t>Deep learning models (CNNs, </a:t>
            </a:r>
            <a:r>
              <a:rPr lang="en-US" sz="1400" dirty="0" err="1">
                <a:latin typeface="+mj-lt"/>
                <a:ea typeface="Calibri" panose="020F0502020204030204" pitchFamily="34" charset="0"/>
                <a:cs typeface="Calibri" panose="020F0502020204030204" pitchFamily="34" charset="0"/>
              </a:rPr>
              <a:t>ViTs</a:t>
            </a:r>
            <a:r>
              <a:rPr lang="en-US" sz="1400" dirty="0">
                <a:latin typeface="+mj-lt"/>
                <a:ea typeface="Calibri" panose="020F0502020204030204" pitchFamily="34" charset="0"/>
                <a:cs typeface="Calibri" panose="020F0502020204030204" pitchFamily="34" charset="0"/>
              </a:rPr>
              <a:t>) reach 93–97% accuracy in subtype classification</a:t>
            </a:r>
          </a:p>
          <a:p>
            <a:pPr marL="285750" indent="-285750" eaLnBrk="0" fontAlgn="base" hangingPunct="0">
              <a:spcBef>
                <a:spcPct val="0"/>
              </a:spcBef>
              <a:spcAft>
                <a:spcPct val="0"/>
              </a:spcAft>
              <a:buClrTx/>
              <a:buSzTx/>
            </a:pPr>
            <a:r>
              <a:rPr lang="en-US" sz="1400" dirty="0">
                <a:latin typeface="+mj-lt"/>
                <a:ea typeface="Calibri" panose="020F0502020204030204" pitchFamily="34" charset="0"/>
                <a:cs typeface="Calibri" panose="020F0502020204030204" pitchFamily="34" charset="0"/>
              </a:rPr>
              <a:t>Yet clinical adoption is low due to lack of interpretability and transparency</a:t>
            </a:r>
          </a:p>
          <a:p>
            <a:pPr marL="285750" indent="-285750" eaLnBrk="0" fontAlgn="base" hangingPunct="0">
              <a:spcBef>
                <a:spcPct val="0"/>
              </a:spcBef>
              <a:spcAft>
                <a:spcPct val="0"/>
              </a:spcAft>
              <a:buClrTx/>
              <a:buSzTx/>
            </a:pPr>
            <a:r>
              <a:rPr lang="en-US" sz="1400" dirty="0">
                <a:latin typeface="+mj-lt"/>
                <a:ea typeface="Calibri" panose="020F0502020204030204" pitchFamily="34" charset="0"/>
                <a:cs typeface="Calibri" panose="020F0502020204030204" pitchFamily="34" charset="0"/>
              </a:rPr>
              <a:t>Clinicians are reluctant to trust opaque systems with unclear logic or accountability</a:t>
            </a:r>
          </a:p>
          <a:p>
            <a:pPr marL="285750" indent="-285750" eaLnBrk="0" fontAlgn="base" hangingPunct="0">
              <a:spcBef>
                <a:spcPct val="0"/>
              </a:spcBef>
              <a:spcAft>
                <a:spcPct val="0"/>
              </a:spcAft>
              <a:buClrTx/>
              <a:buSzTx/>
            </a:pPr>
            <a:r>
              <a:rPr lang="en-US" sz="1400" u="sng" dirty="0">
                <a:latin typeface="+mj-lt"/>
                <a:ea typeface="Calibri" panose="020F0502020204030204" pitchFamily="34" charset="0"/>
                <a:cs typeface="Calibri" panose="020F0502020204030204" pitchFamily="34" charset="0"/>
              </a:rPr>
              <a:t>Core issue</a:t>
            </a:r>
            <a:r>
              <a:rPr lang="en-US" sz="1400" dirty="0">
                <a:latin typeface="+mj-lt"/>
                <a:ea typeface="Calibri" panose="020F0502020204030204" pitchFamily="34" charset="0"/>
                <a:cs typeface="Calibri" panose="020F0502020204030204" pitchFamily="34" charset="0"/>
              </a:rPr>
              <a:t>: The barrier is not accuracy, but trust and explainability in AI-based diagnosis</a:t>
            </a:r>
          </a:p>
          <a:p>
            <a:pPr marL="0" indent="0" eaLnBrk="0" fontAlgn="base" hangingPunct="0">
              <a:spcBef>
                <a:spcPct val="0"/>
              </a:spcBef>
              <a:spcAft>
                <a:spcPct val="0"/>
              </a:spcAft>
              <a:buClrTx/>
              <a:buSzTx/>
              <a:buNone/>
            </a:pPr>
            <a:endParaRPr lang="en-US" sz="1400" dirty="0">
              <a:latin typeface="+mj-lt"/>
              <a:ea typeface="Calibri" panose="020F0502020204030204" pitchFamily="34" charset="0"/>
              <a:cs typeface="Calibri" panose="020F0502020204030204" pitchFamily="34" charset="0"/>
            </a:endParaRPr>
          </a:p>
          <a:p>
            <a:pPr marL="285750" indent="-285750" eaLnBrk="0" fontAlgn="base" hangingPunct="0">
              <a:spcBef>
                <a:spcPct val="0"/>
              </a:spcBef>
              <a:spcAft>
                <a:spcPct val="0"/>
              </a:spcAft>
              <a:buClrTx/>
              <a:buSzTx/>
            </a:pPr>
            <a:endParaRPr lang="en-US" sz="1400" dirty="0">
              <a:latin typeface="+mj-lt"/>
              <a:ea typeface="Calibri" panose="020F0502020204030204" pitchFamily="34" charset="0"/>
              <a:cs typeface="Calibri" panose="020F0502020204030204" pitchFamily="34" charset="0"/>
            </a:endParaRPr>
          </a:p>
          <a:p>
            <a:pPr marL="285750" indent="-285750" eaLnBrk="0" fontAlgn="base" hangingPunct="0">
              <a:spcBef>
                <a:spcPct val="0"/>
              </a:spcBef>
              <a:spcAft>
                <a:spcPct val="0"/>
              </a:spcAft>
              <a:buClrTx/>
              <a:buSzTx/>
            </a:pPr>
            <a:endParaRPr lang="en-US" altLang="en-US" sz="1400" b="1" dirty="0">
              <a:solidFill>
                <a:schemeClr val="tx1"/>
              </a:solidFill>
              <a:latin typeface="+mj-lt"/>
            </a:endParaRPr>
          </a:p>
          <a:p>
            <a:pPr marL="0" indent="0" eaLnBrk="0" fontAlgn="base" hangingPunct="0">
              <a:spcBef>
                <a:spcPct val="0"/>
              </a:spcBef>
              <a:spcAft>
                <a:spcPct val="0"/>
              </a:spcAft>
              <a:buClrTx/>
              <a:buSzTx/>
              <a:buNone/>
            </a:pPr>
            <a:endParaRPr lang="en-US" altLang="en-US" sz="1400" b="1" dirty="0">
              <a:solidFill>
                <a:schemeClr val="tx1"/>
              </a:solidFill>
              <a:latin typeface="+mj-lt"/>
            </a:endParaRPr>
          </a:p>
          <a:p>
            <a:pPr marL="285750" indent="-285750" eaLnBrk="0" fontAlgn="base" hangingPunct="0">
              <a:spcBef>
                <a:spcPct val="0"/>
              </a:spcBef>
              <a:spcAft>
                <a:spcPct val="0"/>
              </a:spcAft>
              <a:buClrTx/>
              <a:buSzTx/>
            </a:pPr>
            <a:endParaRPr kumimoji="0" lang="en-US" altLang="en-US" sz="1600" b="1"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976E3049-4032-0196-B8E9-5ADFC2B2C1DB}"/>
            </a:ext>
          </a:extLst>
        </p:cNvPr>
        <p:cNvGrpSpPr/>
        <p:nvPr/>
      </p:nvGrpSpPr>
      <p:grpSpPr>
        <a:xfrm>
          <a:off x="0" y="0"/>
          <a:ext cx="0" cy="0"/>
          <a:chOff x="0" y="0"/>
          <a:chExt cx="0" cy="0"/>
        </a:xfrm>
      </p:grpSpPr>
      <p:pic>
        <p:nvPicPr>
          <p:cNvPr id="98" name="Google Shape;98;p2">
            <a:extLst>
              <a:ext uri="{FF2B5EF4-FFF2-40B4-BE49-F238E27FC236}">
                <a16:creationId xmlns:a16="http://schemas.microsoft.com/office/drawing/2014/main" id="{FEA75E48-205E-1D2E-3369-415B5E52C589}"/>
              </a:ext>
            </a:extLst>
          </p:cNvPr>
          <p:cNvPicPr preferRelativeResize="0"/>
          <p:nvPr/>
        </p:nvPicPr>
        <p:blipFill rotWithShape="1">
          <a:blip r:embed="rId3">
            <a:alphaModFix/>
          </a:blip>
          <a:srcRect/>
          <a:stretch/>
        </p:blipFill>
        <p:spPr>
          <a:xfrm>
            <a:off x="0" y="99321"/>
            <a:ext cx="1345676" cy="454032"/>
          </a:xfrm>
          <a:prstGeom prst="rect">
            <a:avLst/>
          </a:prstGeom>
          <a:noFill/>
          <a:ln>
            <a:noFill/>
          </a:ln>
        </p:spPr>
      </p:pic>
      <p:sp>
        <p:nvSpPr>
          <p:cNvPr id="96" name="Google Shape;96;p2">
            <a:extLst>
              <a:ext uri="{FF2B5EF4-FFF2-40B4-BE49-F238E27FC236}">
                <a16:creationId xmlns:a16="http://schemas.microsoft.com/office/drawing/2014/main" id="{2AE85690-6CE8-17F0-39D1-57FEA084E19B}"/>
              </a:ext>
            </a:extLst>
          </p:cNvPr>
          <p:cNvSpPr txBox="1">
            <a:spLocks noGrp="1"/>
          </p:cNvSpPr>
          <p:nvPr>
            <p:ph type="title"/>
          </p:nvPr>
        </p:nvSpPr>
        <p:spPr>
          <a:xfrm>
            <a:off x="457200" y="657050"/>
            <a:ext cx="8229600" cy="1143000"/>
          </a:xfrm>
          <a:prstGeom prst="rect">
            <a:avLst/>
          </a:prstGeom>
          <a:noFill/>
          <a:ln>
            <a:noFill/>
          </a:ln>
        </p:spPr>
        <p:txBody>
          <a:bodyPr spcFirstLastPara="1" wrap="square" lIns="91425" tIns="45700" rIns="91425" bIns="45700" anchor="ctr" anchorCtr="0">
            <a:normAutofit fontScale="90000"/>
          </a:bodyPr>
          <a:lstStyle/>
          <a:p>
            <a:pPr>
              <a:buSzPts val="4400"/>
            </a:pPr>
            <a:r>
              <a:rPr lang="en-IN" b="1" dirty="0"/>
              <a:t>Problem Formulation</a:t>
            </a:r>
            <a:br>
              <a:rPr lang="en-IN" b="1" dirty="0"/>
            </a:br>
            <a:endParaRPr dirty="0"/>
          </a:p>
        </p:txBody>
      </p:sp>
      <p:sp>
        <p:nvSpPr>
          <p:cNvPr id="99" name="Google Shape;99;p2">
            <a:extLst>
              <a:ext uri="{FF2B5EF4-FFF2-40B4-BE49-F238E27FC236}">
                <a16:creationId xmlns:a16="http://schemas.microsoft.com/office/drawing/2014/main" id="{71B1A641-5350-C3B2-F57F-1D6A5F4C7F52}"/>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fld id="{D15CBDC1-4D60-49C2-8F68-274855D002DB}" type="datetime1">
              <a:rPr lang="en-US" smtClean="0"/>
              <a:t>11/8/2025</a:t>
            </a:fld>
            <a:endParaRPr dirty="0"/>
          </a:p>
        </p:txBody>
      </p:sp>
      <p:sp>
        <p:nvSpPr>
          <p:cNvPr id="100" name="Google Shape;100;p2">
            <a:extLst>
              <a:ext uri="{FF2B5EF4-FFF2-40B4-BE49-F238E27FC236}">
                <a16:creationId xmlns:a16="http://schemas.microsoft.com/office/drawing/2014/main" id="{FED2B612-6EB5-0FF4-8962-E8447D9F94CA}"/>
              </a:ext>
            </a:extLst>
          </p:cNvPr>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01" name="Google Shape;101;p2">
            <a:extLst>
              <a:ext uri="{FF2B5EF4-FFF2-40B4-BE49-F238E27FC236}">
                <a16:creationId xmlns:a16="http://schemas.microsoft.com/office/drawing/2014/main" id="{2D5D1B54-D267-8D4E-F692-927534930E9E}"/>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
        <p:nvSpPr>
          <p:cNvPr id="7" name="Rectangle 5">
            <a:extLst>
              <a:ext uri="{FF2B5EF4-FFF2-40B4-BE49-F238E27FC236}">
                <a16:creationId xmlns:a16="http://schemas.microsoft.com/office/drawing/2014/main" id="{D5717674-6F83-CA87-09D1-37F26B631D6F}"/>
              </a:ext>
            </a:extLst>
          </p:cNvPr>
          <p:cNvSpPr>
            <a:spLocks noGrp="1" noChangeArrowheads="1"/>
          </p:cNvSpPr>
          <p:nvPr>
            <p:ph type="body" idx="1"/>
          </p:nvPr>
        </p:nvSpPr>
        <p:spPr bwMode="auto">
          <a:xfrm>
            <a:off x="672838" y="1785668"/>
            <a:ext cx="7706412" cy="3200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1"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Problem Statement</a:t>
            </a:r>
            <a:r>
              <a:rPr kumimoji="0" lang="en-US" altLang="en-US" sz="20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 </a:t>
            </a: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Calibri"/>
                <a:cs typeface="Calibri"/>
                <a:sym typeface="Calibri"/>
              </a:rPr>
              <a:t>Clinicians require a diagnostic tool that not only provides accurate classification of lung cancer subtypes from CT scans but also ensures transparency, reliability, and clinical interpretability. Traditional deep learning models often act as “black boxes,” offering high accuracy without explaining their reasoning. This lack of interpretability limits clinical trust and practical adoption. The proposed system aims to bridge this gap by combining Vision Transformers (</a:t>
            </a:r>
            <a:r>
              <a:rPr kumimoji="0" lang="en-US" altLang="en-US" sz="1800" b="0" i="0" u="none" strike="noStrike" kern="0" cap="none" spc="0" normalizeH="0" baseline="0" noProof="0" dirty="0" err="1">
                <a:ln>
                  <a:noFill/>
                </a:ln>
                <a:solidFill>
                  <a:srgbClr val="000000"/>
                </a:solidFill>
                <a:effectLst/>
                <a:uLnTx/>
                <a:uFillTx/>
                <a:latin typeface="Arial" panose="020B0604020202020204" pitchFamily="34" charset="0"/>
                <a:ea typeface="Calibri"/>
                <a:cs typeface="Calibri"/>
                <a:sym typeface="Calibri"/>
              </a:rPr>
              <a:t>ViT</a:t>
            </a: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Calibri"/>
                <a:cs typeface="Calibri"/>
                <a:sym typeface="Calibri"/>
              </a:rPr>
              <a:t>), Explainable AI (Grad-CAM), and RAG-based knowledge retrieval to create a transparent, evidence-backed diagnostic framework.</a:t>
            </a:r>
            <a:endParaRPr lang="en-US" altLang="en-US" sz="1800" dirty="0">
              <a:solidFill>
                <a:srgbClr val="000000"/>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endParaRPr>
          </a:p>
          <a:p>
            <a:pPr marL="285750" indent="-285750" eaLnBrk="0" fontAlgn="base" hangingPunct="0">
              <a:spcBef>
                <a:spcPct val="0"/>
              </a:spcBef>
              <a:spcAft>
                <a:spcPct val="0"/>
              </a:spcAft>
              <a:buClrTx/>
              <a:buSzTx/>
            </a:pPr>
            <a:endParaRPr lang="en-US" sz="1800" dirty="0">
              <a:latin typeface="+mj-lt"/>
            </a:endParaRPr>
          </a:p>
        </p:txBody>
      </p:sp>
    </p:spTree>
    <p:extLst>
      <p:ext uri="{BB962C8B-B14F-4D97-AF65-F5344CB8AC3E}">
        <p14:creationId xmlns:p14="http://schemas.microsoft.com/office/powerpoint/2010/main" val="1271124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5EBD68D6-B0A8-C1AB-9FDE-6485864F67AA}"/>
            </a:ext>
          </a:extLst>
        </p:cNvPr>
        <p:cNvGrpSpPr/>
        <p:nvPr/>
      </p:nvGrpSpPr>
      <p:grpSpPr>
        <a:xfrm>
          <a:off x="0" y="0"/>
          <a:ext cx="0" cy="0"/>
          <a:chOff x="0" y="0"/>
          <a:chExt cx="0" cy="0"/>
        </a:xfrm>
      </p:grpSpPr>
      <p:pic>
        <p:nvPicPr>
          <p:cNvPr id="98" name="Google Shape;98;p2">
            <a:extLst>
              <a:ext uri="{FF2B5EF4-FFF2-40B4-BE49-F238E27FC236}">
                <a16:creationId xmlns:a16="http://schemas.microsoft.com/office/drawing/2014/main" id="{441ECEC2-58DB-4E39-1C44-2CD63F016EB1}"/>
              </a:ext>
            </a:extLst>
          </p:cNvPr>
          <p:cNvPicPr preferRelativeResize="0"/>
          <p:nvPr/>
        </p:nvPicPr>
        <p:blipFill rotWithShape="1">
          <a:blip r:embed="rId3">
            <a:alphaModFix/>
          </a:blip>
          <a:srcRect/>
          <a:stretch/>
        </p:blipFill>
        <p:spPr>
          <a:xfrm>
            <a:off x="0" y="99321"/>
            <a:ext cx="1345676" cy="454032"/>
          </a:xfrm>
          <a:prstGeom prst="rect">
            <a:avLst/>
          </a:prstGeom>
          <a:noFill/>
          <a:ln>
            <a:noFill/>
          </a:ln>
        </p:spPr>
      </p:pic>
      <p:sp>
        <p:nvSpPr>
          <p:cNvPr id="96" name="Google Shape;96;p2">
            <a:extLst>
              <a:ext uri="{FF2B5EF4-FFF2-40B4-BE49-F238E27FC236}">
                <a16:creationId xmlns:a16="http://schemas.microsoft.com/office/drawing/2014/main" id="{F84BB352-A131-DA1F-538F-47E0C2FD6C74}"/>
              </a:ext>
            </a:extLst>
          </p:cNvPr>
          <p:cNvSpPr txBox="1">
            <a:spLocks noGrp="1"/>
          </p:cNvSpPr>
          <p:nvPr>
            <p:ph type="title"/>
          </p:nvPr>
        </p:nvSpPr>
        <p:spPr>
          <a:xfrm>
            <a:off x="152400" y="326337"/>
            <a:ext cx="8839200" cy="1143000"/>
          </a:xfrm>
          <a:prstGeom prst="rect">
            <a:avLst/>
          </a:prstGeom>
          <a:noFill/>
          <a:ln>
            <a:noFill/>
          </a:ln>
        </p:spPr>
        <p:txBody>
          <a:bodyPr spcFirstLastPara="1" wrap="square" lIns="91425" tIns="45700" rIns="91425" bIns="45700" anchor="ctr" anchorCtr="0">
            <a:normAutofit/>
          </a:bodyPr>
          <a:lstStyle/>
          <a:p>
            <a:r>
              <a:rPr lang="en-US" sz="4000" b="1" dirty="0"/>
              <a:t>Literature Survey</a:t>
            </a:r>
          </a:p>
        </p:txBody>
      </p:sp>
      <p:sp>
        <p:nvSpPr>
          <p:cNvPr id="99" name="Google Shape;99;p2">
            <a:extLst>
              <a:ext uri="{FF2B5EF4-FFF2-40B4-BE49-F238E27FC236}">
                <a16:creationId xmlns:a16="http://schemas.microsoft.com/office/drawing/2014/main" id="{9E7B387B-5967-2715-740B-D29718125A23}"/>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fld id="{D15CBDC1-4D60-49C2-8F68-274855D002DB}" type="datetime1">
              <a:rPr lang="en-US" smtClean="0"/>
              <a:t>11/8/2025</a:t>
            </a:fld>
            <a:endParaRPr dirty="0"/>
          </a:p>
        </p:txBody>
      </p:sp>
      <p:sp>
        <p:nvSpPr>
          <p:cNvPr id="100" name="Google Shape;100;p2">
            <a:extLst>
              <a:ext uri="{FF2B5EF4-FFF2-40B4-BE49-F238E27FC236}">
                <a16:creationId xmlns:a16="http://schemas.microsoft.com/office/drawing/2014/main" id="{2AFCD01A-DA52-69DE-7ED6-73FFCFE0CE98}"/>
              </a:ext>
            </a:extLst>
          </p:cNvPr>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01" name="Google Shape;101;p2">
            <a:extLst>
              <a:ext uri="{FF2B5EF4-FFF2-40B4-BE49-F238E27FC236}">
                <a16:creationId xmlns:a16="http://schemas.microsoft.com/office/drawing/2014/main" id="{8A70093E-8470-8757-4855-2D10183AC8DD}"/>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
        <p:nvSpPr>
          <p:cNvPr id="7" name="Rectangle 5">
            <a:extLst>
              <a:ext uri="{FF2B5EF4-FFF2-40B4-BE49-F238E27FC236}">
                <a16:creationId xmlns:a16="http://schemas.microsoft.com/office/drawing/2014/main" id="{8B001776-5EE8-7CA1-F78C-C4C5006DAED8}"/>
              </a:ext>
            </a:extLst>
          </p:cNvPr>
          <p:cNvSpPr>
            <a:spLocks noGrp="1" noChangeArrowheads="1"/>
          </p:cNvSpPr>
          <p:nvPr>
            <p:ph type="body" idx="1"/>
          </p:nvPr>
        </p:nvSpPr>
        <p:spPr bwMode="auto">
          <a:xfrm>
            <a:off x="672838" y="1248627"/>
            <a:ext cx="7706412"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spcBef>
                <a:spcPct val="0"/>
              </a:spcBef>
              <a:spcAft>
                <a:spcPct val="0"/>
              </a:spcAft>
              <a:buClrTx/>
              <a:buSzTx/>
              <a:buNone/>
            </a:pPr>
            <a:r>
              <a:rPr lang="en-US" sz="1800" b="1" dirty="0"/>
              <a:t>1. Deep Learning for Lung Cancer Classification</a:t>
            </a:r>
            <a:endPar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endParaRPr>
          </a:p>
          <a:p>
            <a:pPr marL="285750" indent="-285750" eaLnBrk="0" fontAlgn="base" hangingPunct="0">
              <a:spcBef>
                <a:spcPct val="0"/>
              </a:spcBef>
              <a:spcAft>
                <a:spcPct val="0"/>
              </a:spcAft>
              <a:buClrTx/>
              <a:buSzTx/>
            </a:pP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CNN-based models achieve up to 93.06% accuracy (3-class: Adenocarcinoma, Squamous Cell Carcinoma, Large Cell Carcinoma).</a:t>
            </a:r>
          </a:p>
          <a:p>
            <a:pPr marL="285750" indent="-285750" eaLnBrk="0" fontAlgn="base" hangingPunct="0">
              <a:spcBef>
                <a:spcPct val="0"/>
              </a:spcBef>
              <a:spcAft>
                <a:spcPct val="0"/>
              </a:spcAft>
              <a:buClrTx/>
              <a:buSzTx/>
            </a:pPr>
            <a:r>
              <a:rPr kumimoji="0" lang="en-US" altLang="en-US" sz="1400" i="0" u="none" strike="noStrike" cap="none" normalizeH="0" baseline="0" dirty="0" err="1">
                <a:ln>
                  <a:noFill/>
                </a:ln>
                <a:solidFill>
                  <a:schemeClr val="tx1"/>
                </a:solidFill>
                <a:effectLst/>
                <a:latin typeface="+mj-lt"/>
                <a:ea typeface="Calibri" panose="020F0502020204030204" pitchFamily="34" charset="0"/>
                <a:cs typeface="Calibri" panose="020F0502020204030204" pitchFamily="34" charset="0"/>
              </a:rPr>
              <a:t>DenseNet</a:t>
            </a: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 AdaBoost fusion: 89.85% accuracy.</a:t>
            </a:r>
          </a:p>
          <a:p>
            <a:pPr marL="285750" indent="-285750" eaLnBrk="0" fontAlgn="base" hangingPunct="0">
              <a:spcBef>
                <a:spcPct val="0"/>
              </a:spcBef>
              <a:spcAft>
                <a:spcPct val="0"/>
              </a:spcAft>
              <a:buClrTx/>
              <a:buSzTx/>
            </a:pP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Vision Transformers (Swin Transformer) achieve 97.14% accuracy and 0.993 AUC-ROC using localized self-attention.</a:t>
            </a:r>
          </a:p>
          <a:p>
            <a:pPr marL="285750" indent="-285750" eaLnBrk="0" fontAlgn="base" hangingPunct="0">
              <a:spcBef>
                <a:spcPct val="0"/>
              </a:spcBef>
              <a:spcAft>
                <a:spcPct val="0"/>
              </a:spcAft>
              <a:buClrTx/>
              <a:buSzTx/>
            </a:pP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Classification task is well-studied; high-performing models are achievable.</a:t>
            </a:r>
          </a:p>
          <a:p>
            <a:pPr marL="0" indent="0" eaLnBrk="0" fontAlgn="base" hangingPunct="0">
              <a:spcBef>
                <a:spcPct val="0"/>
              </a:spcBef>
              <a:spcAft>
                <a:spcPct val="0"/>
              </a:spcAft>
              <a:buClrTx/>
              <a:buSzTx/>
              <a:buNone/>
            </a:pPr>
            <a:endPar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indent="0" eaLnBrk="0" fontAlgn="base" hangingPunct="0">
              <a:spcBef>
                <a:spcPct val="0"/>
              </a:spcBef>
              <a:spcAft>
                <a:spcPct val="0"/>
              </a:spcAft>
              <a:buClrTx/>
              <a:buSzTx/>
              <a:buNone/>
            </a:pPr>
            <a:r>
              <a:rPr lang="en-US" altLang="en-US" sz="1600" b="1" dirty="0">
                <a:solidFill>
                  <a:schemeClr val="tx1"/>
                </a:solidFill>
                <a:latin typeface="Calibri" panose="020F0502020204030204" pitchFamily="34" charset="0"/>
                <a:ea typeface="Calibri" panose="020F0502020204030204" pitchFamily="34" charset="0"/>
                <a:cs typeface="Calibri" panose="020F0502020204030204" pitchFamily="34" charset="0"/>
              </a:rPr>
              <a:t>2. Explainable AI(XAI) for Medical Imaging:</a:t>
            </a:r>
          </a:p>
          <a:p>
            <a:pPr marL="285750" indent="-285750" eaLnBrk="0" fontAlgn="base" hangingPunct="0">
              <a:spcBef>
                <a:spcPct val="0"/>
              </a:spcBef>
              <a:spcAft>
                <a:spcPct val="0"/>
              </a:spcAft>
              <a:buClrTx/>
              <a:buSzTx/>
            </a:pPr>
            <a:r>
              <a:rPr lang="en-US" altLang="en-US" sz="1400" dirty="0">
                <a:solidFill>
                  <a:schemeClr val="tx1"/>
                </a:solidFill>
                <a:latin typeface="+mj-lt"/>
                <a:ea typeface="Calibri" panose="020F0502020204030204" pitchFamily="34" charset="0"/>
                <a:cs typeface="Calibri" panose="020F0502020204030204" pitchFamily="34" charset="0"/>
              </a:rPr>
              <a:t>Addresses the “black box” challenge using post-hoc visualization methods.</a:t>
            </a:r>
          </a:p>
          <a:p>
            <a:pPr marL="285750" indent="-285750" eaLnBrk="0" fontAlgn="base" hangingPunct="0">
              <a:spcBef>
                <a:spcPct val="0"/>
              </a:spcBef>
              <a:spcAft>
                <a:spcPct val="0"/>
              </a:spcAft>
              <a:buClrTx/>
              <a:buSzTx/>
            </a:pPr>
            <a:r>
              <a:rPr lang="en-US" altLang="en-US" sz="1400" dirty="0">
                <a:solidFill>
                  <a:schemeClr val="tx1"/>
                </a:solidFill>
                <a:latin typeface="+mj-lt"/>
                <a:ea typeface="Calibri" panose="020F0502020204030204" pitchFamily="34" charset="0"/>
                <a:cs typeface="Calibri" panose="020F0502020204030204" pitchFamily="34" charset="0"/>
              </a:rPr>
              <a:t>Grad-CAM produces heatmaps highlighting key regions influencing predictions.</a:t>
            </a:r>
          </a:p>
          <a:p>
            <a:pPr marL="285750" indent="-285750" eaLnBrk="0" fontAlgn="base" hangingPunct="0">
              <a:spcBef>
                <a:spcPct val="0"/>
              </a:spcBef>
              <a:spcAft>
                <a:spcPct val="0"/>
              </a:spcAft>
              <a:buClrTx/>
              <a:buSzTx/>
            </a:pPr>
            <a:r>
              <a:rPr lang="en-US" altLang="en-US" sz="1400" dirty="0">
                <a:solidFill>
                  <a:schemeClr val="tx1"/>
                </a:solidFill>
                <a:latin typeface="+mj-lt"/>
                <a:ea typeface="Calibri" panose="020F0502020204030204" pitchFamily="34" charset="0"/>
                <a:cs typeface="Calibri" panose="020F0502020204030204" pitchFamily="34" charset="0"/>
              </a:rPr>
              <a:t>Enables clinicians to validate model focus areas (e.g., ground-glass opacity for Adenocarcinoma).</a:t>
            </a:r>
          </a:p>
          <a:p>
            <a:pPr marL="285750" indent="-285750" eaLnBrk="0" fontAlgn="base" hangingPunct="0">
              <a:spcBef>
                <a:spcPct val="0"/>
              </a:spcBef>
              <a:spcAft>
                <a:spcPct val="0"/>
              </a:spcAft>
              <a:buClrTx/>
              <a:buSzTx/>
            </a:pPr>
            <a:r>
              <a:rPr lang="en-US" altLang="en-US" sz="1400" dirty="0">
                <a:solidFill>
                  <a:schemeClr val="tx1"/>
                </a:solidFill>
                <a:latin typeface="+mj-lt"/>
                <a:ea typeface="Calibri" panose="020F0502020204030204" pitchFamily="34" charset="0"/>
                <a:cs typeface="Calibri" panose="020F0502020204030204" pitchFamily="34" charset="0"/>
              </a:rPr>
              <a:t>Provides transparency and interpretability in decision-making.</a:t>
            </a:r>
          </a:p>
          <a:p>
            <a:pPr marL="0" indent="0" eaLnBrk="0" fontAlgn="base" hangingPunct="0">
              <a:spcBef>
                <a:spcPct val="0"/>
              </a:spcBef>
              <a:spcAft>
                <a:spcPct val="0"/>
              </a:spcAft>
              <a:buClrTx/>
              <a:buSzTx/>
              <a:buNone/>
            </a:pPr>
            <a:endParaRPr lang="en-US" altLang="en-US" sz="16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indent="0" eaLnBrk="0" fontAlgn="base" hangingPunct="0">
              <a:spcBef>
                <a:spcPct val="0"/>
              </a:spcBef>
              <a:spcAft>
                <a:spcPct val="0"/>
              </a:spcAft>
              <a:buClrTx/>
              <a:buSzTx/>
              <a:buNone/>
            </a:pPr>
            <a:r>
              <a:rPr lang="en-US" altLang="en-US" sz="1600" b="1" dirty="0">
                <a:solidFill>
                  <a:schemeClr val="tx1"/>
                </a:solidFill>
                <a:latin typeface="Calibri" panose="020F0502020204030204" pitchFamily="34" charset="0"/>
                <a:ea typeface="Calibri" panose="020F0502020204030204" pitchFamily="34" charset="0"/>
                <a:cs typeface="Calibri" panose="020F0502020204030204" pitchFamily="34" charset="0"/>
              </a:rPr>
              <a:t>3. Retrieval-Augmented Generation (RAG) for Clinical Support</a:t>
            </a:r>
            <a:endParaRPr lang="en-US" altLang="en-US" sz="1400" dirty="0">
              <a:solidFill>
                <a:schemeClr val="tx1"/>
              </a:solidFill>
              <a:latin typeface="+mj-lt"/>
              <a:ea typeface="Calibri" panose="020F0502020204030204" pitchFamily="34" charset="0"/>
              <a:cs typeface="Calibri" panose="020F0502020204030204" pitchFamily="34" charset="0"/>
            </a:endParaRPr>
          </a:p>
          <a:p>
            <a:pPr marL="285750" indent="-285750" eaLnBrk="0" fontAlgn="base" hangingPunct="0">
              <a:spcBef>
                <a:spcPct val="0"/>
              </a:spcBef>
              <a:spcAft>
                <a:spcPct val="0"/>
              </a:spcAft>
              <a:buClrTx/>
              <a:buSzTx/>
            </a:pPr>
            <a:r>
              <a:rPr lang="en-US" altLang="en-US" sz="1400" dirty="0">
                <a:solidFill>
                  <a:schemeClr val="tx1"/>
                </a:solidFill>
                <a:latin typeface="+mj-lt"/>
                <a:ea typeface="Calibri" panose="020F0502020204030204" pitchFamily="34" charset="0"/>
                <a:cs typeface="Calibri" panose="020F0502020204030204" pitchFamily="34" charset="0"/>
              </a:rPr>
              <a:t>Mitigates LLM hallucination and outdated data issues.</a:t>
            </a:r>
          </a:p>
          <a:p>
            <a:pPr marL="285750" indent="-285750" eaLnBrk="0" fontAlgn="base" hangingPunct="0">
              <a:spcBef>
                <a:spcPct val="0"/>
              </a:spcBef>
              <a:spcAft>
                <a:spcPct val="0"/>
              </a:spcAft>
              <a:buClrTx/>
              <a:buSzTx/>
            </a:pPr>
            <a:r>
              <a:rPr lang="en-US" altLang="en-US" sz="1400" dirty="0">
                <a:solidFill>
                  <a:schemeClr val="tx1"/>
                </a:solidFill>
                <a:latin typeface="+mj-lt"/>
                <a:ea typeface="Calibri" panose="020F0502020204030204" pitchFamily="34" charset="0"/>
                <a:cs typeface="Calibri" panose="020F0502020204030204" pitchFamily="34" charset="0"/>
              </a:rPr>
              <a:t>RAG grounds responses in real-time, curated medical sources such as PubMed.</a:t>
            </a:r>
          </a:p>
          <a:p>
            <a:pPr marL="285750" indent="-285750" eaLnBrk="0" fontAlgn="base" hangingPunct="0">
              <a:spcBef>
                <a:spcPct val="0"/>
              </a:spcBef>
              <a:spcAft>
                <a:spcPct val="0"/>
              </a:spcAft>
              <a:buClrTx/>
              <a:buSzTx/>
            </a:pPr>
            <a:r>
              <a:rPr lang="en-US" altLang="en-US" sz="1400" dirty="0">
                <a:solidFill>
                  <a:schemeClr val="tx1"/>
                </a:solidFill>
                <a:latin typeface="+mj-lt"/>
                <a:ea typeface="Calibri" panose="020F0502020204030204" pitchFamily="34" charset="0"/>
                <a:cs typeface="Calibri" panose="020F0502020204030204" pitchFamily="34" charset="0"/>
              </a:rPr>
              <a:t>Used in Clinical Decision Support Systems (CDSS) for factual, citable insights.</a:t>
            </a:r>
          </a:p>
          <a:p>
            <a:pPr marL="285750" indent="-285750" eaLnBrk="0" fontAlgn="base" hangingPunct="0">
              <a:spcBef>
                <a:spcPct val="0"/>
              </a:spcBef>
              <a:spcAft>
                <a:spcPct val="0"/>
              </a:spcAft>
              <a:buClrTx/>
              <a:buSzTx/>
            </a:pPr>
            <a:r>
              <a:rPr lang="en-US" altLang="en-US" sz="1400" dirty="0">
                <a:solidFill>
                  <a:schemeClr val="tx1"/>
                </a:solidFill>
                <a:latin typeface="+mj-lt"/>
                <a:ea typeface="Calibri" panose="020F0502020204030204" pitchFamily="34" charset="0"/>
                <a:cs typeface="Calibri" panose="020F0502020204030204" pitchFamily="34" charset="0"/>
              </a:rPr>
              <a:t>Ensures reliability and relevance in medical responses.</a:t>
            </a:r>
            <a:endPar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endParaRPr>
          </a:p>
          <a:p>
            <a:pPr marL="0" indent="0" eaLnBrk="0" fontAlgn="base" hangingPunct="0">
              <a:spcBef>
                <a:spcPct val="0"/>
              </a:spcBef>
              <a:spcAft>
                <a:spcPct val="0"/>
              </a:spcAft>
              <a:buClrTx/>
              <a:buSzTx/>
              <a:buNone/>
            </a:pPr>
            <a:endPar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821216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A6FB072E-531B-75EA-E97A-797B2E178DA3}"/>
            </a:ext>
          </a:extLst>
        </p:cNvPr>
        <p:cNvGrpSpPr/>
        <p:nvPr/>
      </p:nvGrpSpPr>
      <p:grpSpPr>
        <a:xfrm>
          <a:off x="0" y="0"/>
          <a:ext cx="0" cy="0"/>
          <a:chOff x="0" y="0"/>
          <a:chExt cx="0" cy="0"/>
        </a:xfrm>
      </p:grpSpPr>
      <p:pic>
        <p:nvPicPr>
          <p:cNvPr id="98" name="Google Shape;98;p2">
            <a:extLst>
              <a:ext uri="{FF2B5EF4-FFF2-40B4-BE49-F238E27FC236}">
                <a16:creationId xmlns:a16="http://schemas.microsoft.com/office/drawing/2014/main" id="{BB393AC7-9400-A9E5-6610-FD3E3C862667}"/>
              </a:ext>
            </a:extLst>
          </p:cNvPr>
          <p:cNvPicPr preferRelativeResize="0"/>
          <p:nvPr/>
        </p:nvPicPr>
        <p:blipFill rotWithShape="1">
          <a:blip r:embed="rId3">
            <a:alphaModFix/>
          </a:blip>
          <a:srcRect/>
          <a:stretch/>
        </p:blipFill>
        <p:spPr>
          <a:xfrm>
            <a:off x="0" y="99321"/>
            <a:ext cx="1345676" cy="454032"/>
          </a:xfrm>
          <a:prstGeom prst="rect">
            <a:avLst/>
          </a:prstGeom>
          <a:noFill/>
          <a:ln>
            <a:noFill/>
          </a:ln>
        </p:spPr>
      </p:pic>
      <p:sp>
        <p:nvSpPr>
          <p:cNvPr id="96" name="Google Shape;96;p2">
            <a:extLst>
              <a:ext uri="{FF2B5EF4-FFF2-40B4-BE49-F238E27FC236}">
                <a16:creationId xmlns:a16="http://schemas.microsoft.com/office/drawing/2014/main" id="{E7D19FE8-7605-C427-4D8F-9A4BEDECA298}"/>
              </a:ext>
            </a:extLst>
          </p:cNvPr>
          <p:cNvSpPr txBox="1">
            <a:spLocks noGrp="1"/>
          </p:cNvSpPr>
          <p:nvPr>
            <p:ph type="title"/>
          </p:nvPr>
        </p:nvSpPr>
        <p:spPr>
          <a:xfrm>
            <a:off x="152400" y="354620"/>
            <a:ext cx="8839200" cy="1143000"/>
          </a:xfrm>
          <a:prstGeom prst="rect">
            <a:avLst/>
          </a:prstGeom>
          <a:noFill/>
          <a:ln>
            <a:noFill/>
          </a:ln>
        </p:spPr>
        <p:txBody>
          <a:bodyPr spcFirstLastPara="1" wrap="square" lIns="91425" tIns="45700" rIns="91425" bIns="45700" anchor="ctr" anchorCtr="0">
            <a:normAutofit/>
          </a:bodyPr>
          <a:lstStyle/>
          <a:p>
            <a:r>
              <a:rPr lang="en-US" sz="4000" b="1" dirty="0"/>
              <a:t>Gap Analysis </a:t>
            </a:r>
          </a:p>
        </p:txBody>
      </p:sp>
      <p:sp>
        <p:nvSpPr>
          <p:cNvPr id="99" name="Google Shape;99;p2">
            <a:extLst>
              <a:ext uri="{FF2B5EF4-FFF2-40B4-BE49-F238E27FC236}">
                <a16:creationId xmlns:a16="http://schemas.microsoft.com/office/drawing/2014/main" id="{03D78A8E-8B59-35FB-C935-25A7810AC1D7}"/>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fld id="{D15CBDC1-4D60-49C2-8F68-274855D002DB}" type="datetime1">
              <a:rPr lang="en-US" smtClean="0"/>
              <a:t>11/8/2025</a:t>
            </a:fld>
            <a:endParaRPr dirty="0"/>
          </a:p>
        </p:txBody>
      </p:sp>
      <p:sp>
        <p:nvSpPr>
          <p:cNvPr id="100" name="Google Shape;100;p2">
            <a:extLst>
              <a:ext uri="{FF2B5EF4-FFF2-40B4-BE49-F238E27FC236}">
                <a16:creationId xmlns:a16="http://schemas.microsoft.com/office/drawing/2014/main" id="{295AAD9B-5CA3-4A96-E9AF-DA636E0E5686}"/>
              </a:ext>
            </a:extLst>
          </p:cNvPr>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dirty="0"/>
          </a:p>
        </p:txBody>
      </p:sp>
      <p:sp>
        <p:nvSpPr>
          <p:cNvPr id="101" name="Google Shape;101;p2">
            <a:extLst>
              <a:ext uri="{FF2B5EF4-FFF2-40B4-BE49-F238E27FC236}">
                <a16:creationId xmlns:a16="http://schemas.microsoft.com/office/drawing/2014/main" id="{65CC4580-B805-9D7A-E2DB-C67AF0A5D76A}"/>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7" name="Rectangle 5">
            <a:extLst>
              <a:ext uri="{FF2B5EF4-FFF2-40B4-BE49-F238E27FC236}">
                <a16:creationId xmlns:a16="http://schemas.microsoft.com/office/drawing/2014/main" id="{BDFAA00C-135B-A92D-2644-C92F61213D46}"/>
              </a:ext>
            </a:extLst>
          </p:cNvPr>
          <p:cNvSpPr>
            <a:spLocks noGrp="1" noChangeArrowheads="1"/>
          </p:cNvSpPr>
          <p:nvPr>
            <p:ph type="body" idx="1"/>
          </p:nvPr>
        </p:nvSpPr>
        <p:spPr bwMode="auto">
          <a:xfrm>
            <a:off x="591558" y="1843951"/>
            <a:ext cx="7706412"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spcBef>
                <a:spcPct val="0"/>
              </a:spcBef>
              <a:spcAft>
                <a:spcPct val="0"/>
              </a:spcAft>
              <a:buClrTx/>
              <a:buSzTx/>
              <a:buNone/>
            </a:pPr>
            <a:r>
              <a:rPr lang="en-US" sz="1800" b="1" dirty="0"/>
              <a:t>The Precise Gap: The XAI-to-RAG Disconnect</a:t>
            </a:r>
          </a:p>
          <a:p>
            <a:pPr marL="0" indent="0" eaLnBrk="0" fontAlgn="base" hangingPunct="0">
              <a:spcBef>
                <a:spcPct val="0"/>
              </a:spcBef>
              <a:spcAft>
                <a:spcPct val="0"/>
              </a:spcAft>
              <a:buClrTx/>
              <a:buSzTx/>
              <a:buNone/>
            </a:pPr>
            <a:endPar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endParaRPr>
          </a:p>
          <a:p>
            <a:pPr marL="0" indent="0" eaLnBrk="0" fontAlgn="base" hangingPunct="0">
              <a:spcBef>
                <a:spcPct val="0"/>
              </a:spcBef>
              <a:spcAft>
                <a:spcPct val="0"/>
              </a:spcAft>
              <a:buClrTx/>
              <a:buSzTx/>
              <a:buNone/>
            </a:pP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The literature review reveals a critical, unaddressed gap—a disconnect between the output of XAI and the input of RAG.</a:t>
            </a:r>
          </a:p>
          <a:p>
            <a:pPr marL="342900" eaLnBrk="0" fontAlgn="base" hangingPunct="0">
              <a:spcBef>
                <a:spcPct val="0"/>
              </a:spcBef>
              <a:spcAft>
                <a:spcPct val="0"/>
              </a:spcAft>
              <a:buClrTx/>
              <a:buSzTx/>
              <a:buFont typeface="+mj-lt"/>
              <a:buAutoNum type="arabicPeriod"/>
            </a:pP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XAI Output: </a:t>
            </a: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A VISUAL heatmap (e.g., Grad-CAM).   </a:t>
            </a:r>
          </a:p>
          <a:p>
            <a:pPr marL="342900" eaLnBrk="0" fontAlgn="base" hangingPunct="0">
              <a:spcBef>
                <a:spcPct val="0"/>
              </a:spcBef>
              <a:spcAft>
                <a:spcPct val="0"/>
              </a:spcAft>
              <a:buClrTx/>
              <a:buSzTx/>
              <a:buFont typeface="+mj-lt"/>
              <a:buAutoNum type="arabicPeriod"/>
            </a:pP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RAG Input</a:t>
            </a: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A TEXTUAL query (e.g., natural language prompt).</a:t>
            </a:r>
          </a:p>
          <a:p>
            <a:pPr marL="0" indent="0" eaLnBrk="0" fontAlgn="base" hangingPunct="0">
              <a:spcBef>
                <a:spcPct val="0"/>
              </a:spcBef>
              <a:spcAft>
                <a:spcPct val="0"/>
              </a:spcAft>
              <a:buClrTx/>
              <a:buSzTx/>
              <a:buNone/>
            </a:pPr>
            <a:endPar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endParaRPr>
          </a:p>
          <a:p>
            <a:pPr marL="0" indent="0" eaLnBrk="0" fontAlgn="base" hangingPunct="0">
              <a:spcBef>
                <a:spcPct val="0"/>
              </a:spcBef>
              <a:spcAft>
                <a:spcPct val="0"/>
              </a:spcAft>
              <a:buClrTx/>
              <a:buSzTx/>
              <a:buNone/>
            </a:pP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In all current systems, this gap must be bridged manually by a human. A clinician must (1) look at the heatmap, (2) interpret the visual radiomic features, and (3) manually type a query into a separate RAG system (e.g., "What is the significance of ground-glass opacity in LUAD?").</a:t>
            </a:r>
          </a:p>
          <a:p>
            <a:pPr marL="0" indent="0" eaLnBrk="0" fontAlgn="base" hangingPunct="0">
              <a:spcBef>
                <a:spcPct val="0"/>
              </a:spcBef>
              <a:spcAft>
                <a:spcPct val="0"/>
              </a:spcAft>
              <a:buClrTx/>
              <a:buSzTx/>
              <a:buNone/>
            </a:pPr>
            <a:endPar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endParaRPr>
          </a:p>
          <a:p>
            <a:pPr marL="0" indent="0" eaLnBrk="0" fontAlgn="base" hangingPunct="0">
              <a:spcBef>
                <a:spcPct val="0"/>
              </a:spcBef>
              <a:spcAft>
                <a:spcPct val="0"/>
              </a:spcAft>
              <a:buClrTx/>
              <a:buSzTx/>
              <a:buNone/>
            </a:pP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This manual, high-friction process is a major barrier. This "viable opportunity gap"  is the central focus of this project. No system currently exists that automates the link between visual XAI evidence and text-based RAG justification</a:t>
            </a:r>
          </a:p>
        </p:txBody>
      </p:sp>
    </p:spTree>
    <p:extLst>
      <p:ext uri="{BB962C8B-B14F-4D97-AF65-F5344CB8AC3E}">
        <p14:creationId xmlns:p14="http://schemas.microsoft.com/office/powerpoint/2010/main" val="1371090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275A28CA-FFC0-7029-75C2-21B2058D7936}"/>
            </a:ext>
          </a:extLst>
        </p:cNvPr>
        <p:cNvGrpSpPr/>
        <p:nvPr/>
      </p:nvGrpSpPr>
      <p:grpSpPr>
        <a:xfrm>
          <a:off x="0" y="0"/>
          <a:ext cx="0" cy="0"/>
          <a:chOff x="0" y="0"/>
          <a:chExt cx="0" cy="0"/>
        </a:xfrm>
      </p:grpSpPr>
      <p:pic>
        <p:nvPicPr>
          <p:cNvPr id="98" name="Google Shape;98;p2">
            <a:extLst>
              <a:ext uri="{FF2B5EF4-FFF2-40B4-BE49-F238E27FC236}">
                <a16:creationId xmlns:a16="http://schemas.microsoft.com/office/drawing/2014/main" id="{48C22314-8C78-9300-A075-2D0860142EF1}"/>
              </a:ext>
            </a:extLst>
          </p:cNvPr>
          <p:cNvPicPr preferRelativeResize="0"/>
          <p:nvPr/>
        </p:nvPicPr>
        <p:blipFill rotWithShape="1">
          <a:blip r:embed="rId3">
            <a:alphaModFix/>
          </a:blip>
          <a:srcRect/>
          <a:stretch/>
        </p:blipFill>
        <p:spPr>
          <a:xfrm>
            <a:off x="0" y="99321"/>
            <a:ext cx="1345676" cy="454032"/>
          </a:xfrm>
          <a:prstGeom prst="rect">
            <a:avLst/>
          </a:prstGeom>
          <a:noFill/>
          <a:ln>
            <a:noFill/>
          </a:ln>
        </p:spPr>
      </p:pic>
      <p:sp>
        <p:nvSpPr>
          <p:cNvPr id="96" name="Google Shape;96;p2">
            <a:extLst>
              <a:ext uri="{FF2B5EF4-FFF2-40B4-BE49-F238E27FC236}">
                <a16:creationId xmlns:a16="http://schemas.microsoft.com/office/drawing/2014/main" id="{69A97F9F-D1C7-6F77-7A14-7D4A1570B9D9}"/>
              </a:ext>
            </a:extLst>
          </p:cNvPr>
          <p:cNvSpPr txBox="1">
            <a:spLocks noGrp="1"/>
          </p:cNvSpPr>
          <p:nvPr>
            <p:ph type="title"/>
          </p:nvPr>
        </p:nvSpPr>
        <p:spPr>
          <a:xfrm>
            <a:off x="457200" y="354620"/>
            <a:ext cx="8229600" cy="1143000"/>
          </a:xfrm>
          <a:prstGeom prst="rect">
            <a:avLst/>
          </a:prstGeom>
          <a:noFill/>
          <a:ln>
            <a:noFill/>
          </a:ln>
        </p:spPr>
        <p:txBody>
          <a:bodyPr spcFirstLastPara="1" wrap="square" lIns="91425" tIns="45700" rIns="91425" bIns="45700" anchor="ctr" anchorCtr="0">
            <a:normAutofit/>
          </a:bodyPr>
          <a:lstStyle/>
          <a:p>
            <a:r>
              <a:rPr lang="en-IN" sz="4000" b="1" dirty="0"/>
              <a:t>Research Objectives</a:t>
            </a:r>
          </a:p>
        </p:txBody>
      </p:sp>
      <p:sp>
        <p:nvSpPr>
          <p:cNvPr id="99" name="Google Shape;99;p2">
            <a:extLst>
              <a:ext uri="{FF2B5EF4-FFF2-40B4-BE49-F238E27FC236}">
                <a16:creationId xmlns:a16="http://schemas.microsoft.com/office/drawing/2014/main" id="{E4ABFE35-85CA-3754-97A8-B6E5479A25E2}"/>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fld id="{D15CBDC1-4D60-49C2-8F68-274855D002DB}" type="datetime1">
              <a:rPr lang="en-US" smtClean="0"/>
              <a:t>11/8/2025</a:t>
            </a:fld>
            <a:endParaRPr dirty="0"/>
          </a:p>
        </p:txBody>
      </p:sp>
      <p:sp>
        <p:nvSpPr>
          <p:cNvPr id="100" name="Google Shape;100;p2">
            <a:extLst>
              <a:ext uri="{FF2B5EF4-FFF2-40B4-BE49-F238E27FC236}">
                <a16:creationId xmlns:a16="http://schemas.microsoft.com/office/drawing/2014/main" id="{BA3CDBB5-4374-EF3E-E306-C7E52DD1FC49}"/>
              </a:ext>
            </a:extLst>
          </p:cNvPr>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01" name="Google Shape;101;p2">
            <a:extLst>
              <a:ext uri="{FF2B5EF4-FFF2-40B4-BE49-F238E27FC236}">
                <a16:creationId xmlns:a16="http://schemas.microsoft.com/office/drawing/2014/main" id="{BE382B36-3B17-4471-067B-7B69DB0AE6BD}"/>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
        <p:nvSpPr>
          <p:cNvPr id="7" name="Rectangle 5">
            <a:extLst>
              <a:ext uri="{FF2B5EF4-FFF2-40B4-BE49-F238E27FC236}">
                <a16:creationId xmlns:a16="http://schemas.microsoft.com/office/drawing/2014/main" id="{61EFB433-EFE1-3F82-903F-0E6D558AC7ED}"/>
              </a:ext>
            </a:extLst>
          </p:cNvPr>
          <p:cNvSpPr>
            <a:spLocks noGrp="1" noChangeArrowheads="1"/>
          </p:cNvSpPr>
          <p:nvPr>
            <p:ph type="body" idx="1"/>
          </p:nvPr>
        </p:nvSpPr>
        <p:spPr bwMode="auto">
          <a:xfrm>
            <a:off x="542041" y="1932585"/>
            <a:ext cx="7706412" cy="3877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spcBef>
                <a:spcPct val="0"/>
              </a:spcBef>
              <a:spcAft>
                <a:spcPct val="0"/>
              </a:spcAft>
              <a:buClrTx/>
              <a:buSzTx/>
            </a:pPr>
            <a:r>
              <a:rPr lang="en-US" sz="1600" b="1" dirty="0">
                <a:latin typeface="Calibri" panose="020F0502020204030204" pitchFamily="34" charset="0"/>
                <a:ea typeface="Calibri" panose="020F0502020204030204" pitchFamily="34" charset="0"/>
                <a:cs typeface="Calibri" panose="020F0502020204030204" pitchFamily="34" charset="0"/>
              </a:rPr>
              <a:t>Develop a high-accuracy multi-class classification model </a:t>
            </a:r>
            <a:r>
              <a:rPr lang="en-US" sz="1400" dirty="0">
                <a:latin typeface="+mj-lt"/>
              </a:rPr>
              <a:t>for lung cancer (e.g., distinguishing benign, malignant, normal) using deep learning on CT/histopathological images—building on recent works that achieve high accuracy with Explainable AI (XAI) methods. </a:t>
            </a:r>
          </a:p>
          <a:p>
            <a:pPr marL="285750" indent="-285750" eaLnBrk="0" fontAlgn="base" hangingPunct="0">
              <a:spcBef>
                <a:spcPct val="0"/>
              </a:spcBef>
              <a:spcAft>
                <a:spcPct val="0"/>
              </a:spcAft>
              <a:buClrTx/>
              <a:buSzTx/>
            </a:pPr>
            <a:endParaRPr lang="en-US" sz="1400" dirty="0">
              <a:latin typeface="+mj-lt"/>
            </a:endParaRPr>
          </a:p>
          <a:p>
            <a:pPr marL="285750" indent="-285750" eaLnBrk="0" fontAlgn="base" hangingPunct="0">
              <a:spcBef>
                <a:spcPct val="0"/>
              </a:spcBef>
              <a:spcAft>
                <a:spcPct val="0"/>
              </a:spcAft>
              <a:buClrTx/>
              <a:buSzTx/>
            </a:pPr>
            <a:r>
              <a:rPr lang="en-US" sz="1600" b="1" dirty="0">
                <a:latin typeface="Calibri" panose="020F0502020204030204" pitchFamily="34" charset="0"/>
                <a:ea typeface="Calibri" panose="020F0502020204030204" pitchFamily="34" charset="0"/>
                <a:cs typeface="Calibri" panose="020F0502020204030204" pitchFamily="34" charset="0"/>
              </a:rPr>
              <a:t>Integrate explainability mechanisms </a:t>
            </a:r>
            <a:r>
              <a:rPr lang="en-US" sz="1400" dirty="0">
                <a:latin typeface="+mj-lt"/>
              </a:rPr>
              <a:t>(such as Grad-CAM, saliency mapping) so that the model’s decisions can be visualized and interpreted by clinicians, thereby improving trust and usability. </a:t>
            </a:r>
          </a:p>
          <a:p>
            <a:pPr marL="285750" indent="-285750" eaLnBrk="0" fontAlgn="base" hangingPunct="0">
              <a:spcBef>
                <a:spcPct val="0"/>
              </a:spcBef>
              <a:spcAft>
                <a:spcPct val="0"/>
              </a:spcAft>
              <a:buClrTx/>
              <a:buSzTx/>
            </a:pPr>
            <a:endParaRPr lang="en-US" sz="1400" dirty="0">
              <a:latin typeface="+mj-lt"/>
            </a:endParaRPr>
          </a:p>
          <a:p>
            <a:pPr marL="285750" indent="-285750" eaLnBrk="0" fontAlgn="base" hangingPunct="0">
              <a:spcBef>
                <a:spcPct val="0"/>
              </a:spcBef>
              <a:spcAft>
                <a:spcPct val="0"/>
              </a:spcAft>
              <a:buClrTx/>
              <a:buSzTx/>
            </a:pPr>
            <a:r>
              <a:rPr lang="en-US" sz="1400" dirty="0">
                <a:latin typeface="+mj-lt"/>
              </a:rPr>
              <a:t>Incorporate a </a:t>
            </a:r>
            <a:r>
              <a:rPr lang="en-US" sz="1600" b="1" dirty="0">
                <a:latin typeface="Calibri" panose="020F0502020204030204" pitchFamily="34" charset="0"/>
                <a:ea typeface="Calibri" panose="020F0502020204030204" pitchFamily="34" charset="0"/>
                <a:cs typeface="Calibri" panose="020F0502020204030204" pitchFamily="34" charset="0"/>
              </a:rPr>
              <a:t>Retrieval-Augmented Generation (RAG</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400" dirty="0">
                <a:latin typeface="+mj-lt"/>
              </a:rPr>
              <a:t>knowledge retrieval component to link model predictions with relevant medical literature or guidelines, enabling an end-to-end system that not only predicts but also explains and contextualizes results.</a:t>
            </a:r>
          </a:p>
          <a:p>
            <a:pPr marL="285750" indent="-285750" eaLnBrk="0" fontAlgn="base" hangingPunct="0">
              <a:spcBef>
                <a:spcPct val="0"/>
              </a:spcBef>
              <a:spcAft>
                <a:spcPct val="0"/>
              </a:spcAft>
              <a:buClrTx/>
              <a:buSzTx/>
            </a:pPr>
            <a:endParaRPr lang="en-US" sz="1400" dirty="0">
              <a:latin typeface="+mj-lt"/>
            </a:endParaRPr>
          </a:p>
          <a:p>
            <a:pPr marL="285750" indent="-285750" eaLnBrk="0" fontAlgn="base" hangingPunct="0">
              <a:spcBef>
                <a:spcPct val="0"/>
              </a:spcBef>
              <a:spcAft>
                <a:spcPct val="0"/>
              </a:spcAft>
              <a:buClrTx/>
              <a:buSzTx/>
            </a:pPr>
            <a:r>
              <a:rPr lang="en-US" sz="1600" b="1" dirty="0">
                <a:latin typeface="Calibri" panose="020F0502020204030204" pitchFamily="34" charset="0"/>
                <a:ea typeface="Calibri" panose="020F0502020204030204" pitchFamily="34" charset="0"/>
                <a:cs typeface="Calibri" panose="020F0502020204030204" pitchFamily="34" charset="0"/>
              </a:rPr>
              <a:t>Validate the system for clinical readiness </a:t>
            </a:r>
            <a:r>
              <a:rPr lang="en-US" sz="1400" dirty="0">
                <a:latin typeface="+mj-lt"/>
              </a:rPr>
              <a:t>by evaluating on diverse datasets, measuring metrics like accuracy, precision, recall, F1-score and ensuring generalizability and robustness across sub-populations. (Prior research emphasizes the need for robust validation for translation to practice.)</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613469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35BF7D5B-B813-990C-70CA-10446186E95C}"/>
            </a:ext>
          </a:extLst>
        </p:cNvPr>
        <p:cNvGrpSpPr/>
        <p:nvPr/>
      </p:nvGrpSpPr>
      <p:grpSpPr>
        <a:xfrm>
          <a:off x="0" y="0"/>
          <a:ext cx="0" cy="0"/>
          <a:chOff x="0" y="0"/>
          <a:chExt cx="0" cy="0"/>
        </a:xfrm>
      </p:grpSpPr>
      <p:pic>
        <p:nvPicPr>
          <p:cNvPr id="98" name="Google Shape;98;p2">
            <a:extLst>
              <a:ext uri="{FF2B5EF4-FFF2-40B4-BE49-F238E27FC236}">
                <a16:creationId xmlns:a16="http://schemas.microsoft.com/office/drawing/2014/main" id="{87BD441B-5592-150E-96A2-E6A7E3D0A1AA}"/>
              </a:ext>
            </a:extLst>
          </p:cNvPr>
          <p:cNvPicPr preferRelativeResize="0"/>
          <p:nvPr/>
        </p:nvPicPr>
        <p:blipFill rotWithShape="1">
          <a:blip r:embed="rId3">
            <a:alphaModFix/>
          </a:blip>
          <a:srcRect/>
          <a:stretch/>
        </p:blipFill>
        <p:spPr>
          <a:xfrm>
            <a:off x="0" y="99321"/>
            <a:ext cx="1345676" cy="454032"/>
          </a:xfrm>
          <a:prstGeom prst="rect">
            <a:avLst/>
          </a:prstGeom>
          <a:noFill/>
          <a:ln>
            <a:noFill/>
          </a:ln>
        </p:spPr>
      </p:pic>
      <p:sp>
        <p:nvSpPr>
          <p:cNvPr id="96" name="Google Shape;96;p2">
            <a:extLst>
              <a:ext uri="{FF2B5EF4-FFF2-40B4-BE49-F238E27FC236}">
                <a16:creationId xmlns:a16="http://schemas.microsoft.com/office/drawing/2014/main" id="{0B05BCD5-AA5B-FD1E-57C4-D9218ADB3222}"/>
              </a:ext>
            </a:extLst>
          </p:cNvPr>
          <p:cNvSpPr txBox="1">
            <a:spLocks noGrp="1"/>
          </p:cNvSpPr>
          <p:nvPr>
            <p:ph type="title"/>
          </p:nvPr>
        </p:nvSpPr>
        <p:spPr>
          <a:xfrm>
            <a:off x="457200" y="354620"/>
            <a:ext cx="8229600" cy="1143000"/>
          </a:xfrm>
          <a:prstGeom prst="rect">
            <a:avLst/>
          </a:prstGeom>
          <a:noFill/>
          <a:ln>
            <a:noFill/>
          </a:ln>
        </p:spPr>
        <p:txBody>
          <a:bodyPr spcFirstLastPara="1" wrap="square" lIns="91425" tIns="45700" rIns="91425" bIns="45700" anchor="ctr" anchorCtr="0">
            <a:normAutofit fontScale="90000"/>
          </a:bodyPr>
          <a:lstStyle/>
          <a:p>
            <a:r>
              <a:rPr lang="en-US" b="1" dirty="0"/>
              <a:t>Alignment with Sustainable Development Goals (SDGs)</a:t>
            </a:r>
          </a:p>
        </p:txBody>
      </p:sp>
      <p:sp>
        <p:nvSpPr>
          <p:cNvPr id="99" name="Google Shape;99;p2">
            <a:extLst>
              <a:ext uri="{FF2B5EF4-FFF2-40B4-BE49-F238E27FC236}">
                <a16:creationId xmlns:a16="http://schemas.microsoft.com/office/drawing/2014/main" id="{CC26AE7F-238E-1EF1-6EEF-E6F91112EA0E}"/>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fld id="{D15CBDC1-4D60-49C2-8F68-274855D002DB}" type="datetime1">
              <a:rPr lang="en-US" smtClean="0"/>
              <a:t>11/8/2025</a:t>
            </a:fld>
            <a:endParaRPr dirty="0"/>
          </a:p>
        </p:txBody>
      </p:sp>
      <p:sp>
        <p:nvSpPr>
          <p:cNvPr id="100" name="Google Shape;100;p2">
            <a:extLst>
              <a:ext uri="{FF2B5EF4-FFF2-40B4-BE49-F238E27FC236}">
                <a16:creationId xmlns:a16="http://schemas.microsoft.com/office/drawing/2014/main" id="{2212B2AC-6840-A66A-E908-49EFA3056656}"/>
              </a:ext>
            </a:extLst>
          </p:cNvPr>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01" name="Google Shape;101;p2">
            <a:extLst>
              <a:ext uri="{FF2B5EF4-FFF2-40B4-BE49-F238E27FC236}">
                <a16:creationId xmlns:a16="http://schemas.microsoft.com/office/drawing/2014/main" id="{24A4E56B-159D-A85F-E971-9504730E9106}"/>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
        <p:nvSpPr>
          <p:cNvPr id="7" name="Rectangle 5">
            <a:extLst>
              <a:ext uri="{FF2B5EF4-FFF2-40B4-BE49-F238E27FC236}">
                <a16:creationId xmlns:a16="http://schemas.microsoft.com/office/drawing/2014/main" id="{3D45DDF1-FAC1-57E9-6FA4-77CE7BF2DA0B}"/>
              </a:ext>
            </a:extLst>
          </p:cNvPr>
          <p:cNvSpPr>
            <a:spLocks noGrp="1" noChangeArrowheads="1"/>
          </p:cNvSpPr>
          <p:nvPr>
            <p:ph type="body" idx="1"/>
          </p:nvPr>
        </p:nvSpPr>
        <p:spPr bwMode="auto">
          <a:xfrm>
            <a:off x="542041" y="2023147"/>
            <a:ext cx="7706412" cy="2923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spcBef>
                <a:spcPct val="0"/>
              </a:spcBef>
              <a:spcAft>
                <a:spcPct val="0"/>
              </a:spcAft>
              <a:buClrTx/>
              <a:buSzTx/>
              <a:buNone/>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Primary Alignment — SDG 3: Good Health and Well-Being</a:t>
            </a:r>
          </a:p>
          <a:p>
            <a:pPr marL="285750" indent="-285750" eaLnBrk="0" fontAlgn="base" hangingPunct="0">
              <a:spcBef>
                <a:spcPct val="0"/>
              </a:spcBef>
              <a:spcAft>
                <a:spcPct val="0"/>
              </a:spcAft>
              <a:buClrTx/>
              <a:buSzTx/>
            </a:pPr>
            <a:r>
              <a:rPr kumimoji="0" lang="en-US" altLang="en-US" sz="1400" i="0" u="none" strike="noStrike" cap="none" normalizeH="0" baseline="0" dirty="0">
                <a:ln>
                  <a:noFill/>
                </a:ln>
                <a:solidFill>
                  <a:schemeClr val="tx1"/>
                </a:solidFill>
                <a:effectLst/>
                <a:latin typeface="+mj-lt"/>
              </a:rPr>
              <a:t>This project directly supports SDG 3, which aims to ensure healthy lives and promote well-being for all.</a:t>
            </a:r>
          </a:p>
          <a:p>
            <a:pPr marL="285750" indent="-285750" eaLnBrk="0" fontAlgn="base" hangingPunct="0">
              <a:spcBef>
                <a:spcPct val="0"/>
              </a:spcBef>
              <a:spcAft>
                <a:spcPct val="0"/>
              </a:spcAft>
              <a:buClrTx/>
              <a:buSzTx/>
            </a:pPr>
            <a:r>
              <a:rPr kumimoji="0" lang="en-US" altLang="en-US" sz="1400" i="0" u="none" strike="noStrike" cap="none" normalizeH="0" baseline="0" dirty="0">
                <a:ln>
                  <a:noFill/>
                </a:ln>
                <a:solidFill>
                  <a:schemeClr val="tx1"/>
                </a:solidFill>
                <a:effectLst/>
                <a:latin typeface="+mj-lt"/>
              </a:rPr>
              <a:t>By developing an AI-driven lung cancer diagnostic model, the system contributes to early detection and improved treatment outcomes.</a:t>
            </a:r>
          </a:p>
          <a:p>
            <a:pPr marL="285750" indent="-285750" eaLnBrk="0" fontAlgn="base" hangingPunct="0">
              <a:spcBef>
                <a:spcPct val="0"/>
              </a:spcBef>
              <a:spcAft>
                <a:spcPct val="0"/>
              </a:spcAft>
              <a:buClrTx/>
              <a:buSzTx/>
            </a:pPr>
            <a:r>
              <a:rPr kumimoji="0" lang="en-US" altLang="en-US" sz="1400" i="0" u="none" strike="noStrike" cap="none" normalizeH="0" baseline="0" dirty="0">
                <a:ln>
                  <a:noFill/>
                </a:ln>
                <a:solidFill>
                  <a:schemeClr val="tx1"/>
                </a:solidFill>
                <a:effectLst/>
                <a:latin typeface="+mj-lt"/>
              </a:rPr>
              <a:t>Enhances early and accurate identification of lung cancer using Vision Transformers.</a:t>
            </a:r>
          </a:p>
          <a:p>
            <a:pPr marL="285750" indent="-285750" eaLnBrk="0" fontAlgn="base" hangingPunct="0">
              <a:spcBef>
                <a:spcPct val="0"/>
              </a:spcBef>
              <a:spcAft>
                <a:spcPct val="0"/>
              </a:spcAft>
              <a:buClrTx/>
              <a:buSzTx/>
            </a:pPr>
            <a:r>
              <a:rPr kumimoji="0" lang="en-US" altLang="en-US" sz="1400" i="0" u="none" strike="noStrike" cap="none" normalizeH="0" baseline="0" dirty="0">
                <a:ln>
                  <a:noFill/>
                </a:ln>
                <a:solidFill>
                  <a:schemeClr val="tx1"/>
                </a:solidFill>
                <a:effectLst/>
                <a:latin typeface="+mj-lt"/>
              </a:rPr>
              <a:t>Improves diagnostic transparency through Grad-CAM visual explanations, increasing clinical trust.</a:t>
            </a:r>
          </a:p>
          <a:p>
            <a:pPr marL="285750" indent="-285750" eaLnBrk="0" fontAlgn="base" hangingPunct="0">
              <a:spcBef>
                <a:spcPct val="0"/>
              </a:spcBef>
              <a:spcAft>
                <a:spcPct val="0"/>
              </a:spcAft>
              <a:buClrTx/>
              <a:buSzTx/>
            </a:pPr>
            <a:r>
              <a:rPr kumimoji="0" lang="en-US" altLang="en-US" sz="1400" i="0" u="none" strike="noStrike" cap="none" normalizeH="0" baseline="0" dirty="0">
                <a:ln>
                  <a:noFill/>
                </a:ln>
                <a:solidFill>
                  <a:schemeClr val="tx1"/>
                </a:solidFill>
                <a:effectLst/>
                <a:latin typeface="+mj-lt"/>
              </a:rPr>
              <a:t>Assists doctors with evidence-backed medical reasoning via RAG-based knowledge retrieval.</a:t>
            </a:r>
          </a:p>
          <a:p>
            <a:pPr marL="285750" indent="-285750" eaLnBrk="0" fontAlgn="base" hangingPunct="0">
              <a:spcBef>
                <a:spcPct val="0"/>
              </a:spcBef>
              <a:spcAft>
                <a:spcPct val="0"/>
              </a:spcAft>
              <a:buClrTx/>
              <a:buSzTx/>
            </a:pPr>
            <a:r>
              <a:rPr kumimoji="0" lang="en-US" altLang="en-US" sz="1400" i="0" u="none" strike="noStrike" cap="none" normalizeH="0" baseline="0" dirty="0">
                <a:ln>
                  <a:noFill/>
                </a:ln>
                <a:solidFill>
                  <a:schemeClr val="tx1"/>
                </a:solidFill>
                <a:effectLst/>
                <a:latin typeface="+mj-lt"/>
              </a:rPr>
              <a:t>Together, these elements help reduce lung cancer mortality rates and promote accessible, data-driven healthcare solutions, aligning with Target 3.4 (Reduce premature deaths from NCDs) and 3.8 (Achieve universal health coverage)</a:t>
            </a:r>
          </a:p>
        </p:txBody>
      </p:sp>
    </p:spTree>
    <p:extLst>
      <p:ext uri="{BB962C8B-B14F-4D97-AF65-F5344CB8AC3E}">
        <p14:creationId xmlns:p14="http://schemas.microsoft.com/office/powerpoint/2010/main" val="7189127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0C4D851E-D127-14F5-3335-0853806E9C89}"/>
            </a:ext>
          </a:extLst>
        </p:cNvPr>
        <p:cNvGrpSpPr/>
        <p:nvPr/>
      </p:nvGrpSpPr>
      <p:grpSpPr>
        <a:xfrm>
          <a:off x="0" y="0"/>
          <a:ext cx="0" cy="0"/>
          <a:chOff x="0" y="0"/>
          <a:chExt cx="0" cy="0"/>
        </a:xfrm>
      </p:grpSpPr>
      <p:pic>
        <p:nvPicPr>
          <p:cNvPr id="98" name="Google Shape;98;p2">
            <a:extLst>
              <a:ext uri="{FF2B5EF4-FFF2-40B4-BE49-F238E27FC236}">
                <a16:creationId xmlns:a16="http://schemas.microsoft.com/office/drawing/2014/main" id="{0F664D35-8E05-54DB-DEA5-9CE49382EBF4}"/>
              </a:ext>
            </a:extLst>
          </p:cNvPr>
          <p:cNvPicPr preferRelativeResize="0"/>
          <p:nvPr/>
        </p:nvPicPr>
        <p:blipFill rotWithShape="1">
          <a:blip r:embed="rId3">
            <a:alphaModFix/>
          </a:blip>
          <a:srcRect/>
          <a:stretch/>
        </p:blipFill>
        <p:spPr>
          <a:xfrm>
            <a:off x="0" y="99321"/>
            <a:ext cx="1345676" cy="454032"/>
          </a:xfrm>
          <a:prstGeom prst="rect">
            <a:avLst/>
          </a:prstGeom>
          <a:noFill/>
          <a:ln>
            <a:noFill/>
          </a:ln>
        </p:spPr>
      </p:pic>
      <p:sp>
        <p:nvSpPr>
          <p:cNvPr id="96" name="Google Shape;96;p2">
            <a:extLst>
              <a:ext uri="{FF2B5EF4-FFF2-40B4-BE49-F238E27FC236}">
                <a16:creationId xmlns:a16="http://schemas.microsoft.com/office/drawing/2014/main" id="{3AFCE125-5396-F918-7E3C-94C596DADBF3}"/>
              </a:ext>
            </a:extLst>
          </p:cNvPr>
          <p:cNvSpPr txBox="1">
            <a:spLocks noGrp="1"/>
          </p:cNvSpPr>
          <p:nvPr>
            <p:ph type="title"/>
          </p:nvPr>
        </p:nvSpPr>
        <p:spPr>
          <a:xfrm>
            <a:off x="457200" y="260350"/>
            <a:ext cx="8229600" cy="1143000"/>
          </a:xfrm>
          <a:prstGeom prst="rect">
            <a:avLst/>
          </a:prstGeom>
          <a:noFill/>
          <a:ln>
            <a:noFill/>
          </a:ln>
        </p:spPr>
        <p:txBody>
          <a:bodyPr spcFirstLastPara="1" wrap="square" lIns="91425" tIns="45700" rIns="91425" bIns="45700" anchor="ctr" anchorCtr="0">
            <a:normAutofit/>
          </a:bodyPr>
          <a:lstStyle/>
          <a:p>
            <a:r>
              <a:rPr lang="en-US" b="1" dirty="0"/>
              <a:t>Project Timeline</a:t>
            </a:r>
          </a:p>
        </p:txBody>
      </p:sp>
      <p:sp>
        <p:nvSpPr>
          <p:cNvPr id="99" name="Google Shape;99;p2">
            <a:extLst>
              <a:ext uri="{FF2B5EF4-FFF2-40B4-BE49-F238E27FC236}">
                <a16:creationId xmlns:a16="http://schemas.microsoft.com/office/drawing/2014/main" id="{F29C30BF-74E4-49F1-9E85-1AF4E40D8AC0}"/>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fld id="{D15CBDC1-4D60-49C2-8F68-274855D002DB}" type="datetime1">
              <a:rPr lang="en-US" smtClean="0"/>
              <a:t>11/8/2025</a:t>
            </a:fld>
            <a:endParaRPr dirty="0"/>
          </a:p>
        </p:txBody>
      </p:sp>
      <p:sp>
        <p:nvSpPr>
          <p:cNvPr id="100" name="Google Shape;100;p2">
            <a:extLst>
              <a:ext uri="{FF2B5EF4-FFF2-40B4-BE49-F238E27FC236}">
                <a16:creationId xmlns:a16="http://schemas.microsoft.com/office/drawing/2014/main" id="{B41DCF54-D142-13B3-8B31-0E7A1671562F}"/>
              </a:ext>
            </a:extLst>
          </p:cNvPr>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01" name="Google Shape;101;p2">
            <a:extLst>
              <a:ext uri="{FF2B5EF4-FFF2-40B4-BE49-F238E27FC236}">
                <a16:creationId xmlns:a16="http://schemas.microsoft.com/office/drawing/2014/main" id="{29AFB96A-9C2F-E44C-1ED6-02D424D7CC21}"/>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
        <p:nvSpPr>
          <p:cNvPr id="7" name="Rectangle 5">
            <a:extLst>
              <a:ext uri="{FF2B5EF4-FFF2-40B4-BE49-F238E27FC236}">
                <a16:creationId xmlns:a16="http://schemas.microsoft.com/office/drawing/2014/main" id="{ED77AF05-7405-277B-8282-069AE40E1C4E}"/>
              </a:ext>
            </a:extLst>
          </p:cNvPr>
          <p:cNvSpPr>
            <a:spLocks noGrp="1" noChangeArrowheads="1"/>
          </p:cNvSpPr>
          <p:nvPr>
            <p:ph type="body" idx="1"/>
          </p:nvPr>
        </p:nvSpPr>
        <p:spPr bwMode="auto">
          <a:xfrm>
            <a:off x="542041" y="1094658"/>
            <a:ext cx="7706412" cy="5478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spcBef>
                <a:spcPct val="0"/>
              </a:spcBef>
              <a:spcAft>
                <a:spcPct val="0"/>
              </a:spcAft>
              <a:buClrTx/>
              <a:buSzTx/>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Phase 1 – Literature Study &amp; Problem Definition (Weeks 1–4)</a:t>
            </a:r>
            <a:endParaRPr kumimoji="0" lang="en-US" altLang="en-US" sz="16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indent="-285750" eaLnBrk="0" fontAlgn="base" hangingPunct="0">
              <a:spcBef>
                <a:spcPct val="0"/>
              </a:spcBef>
              <a:spcAft>
                <a:spcPct val="0"/>
              </a:spcAft>
              <a:buClrTx/>
              <a:buSzTx/>
              <a:buFont typeface="Courier New" panose="02070309020205020404" pitchFamily="49" charset="0"/>
              <a:buChar char="o"/>
            </a:pP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Reviewed research on lung cancer classification, XAI (Grad-CAM, SHAP), and RAG methods.</a:t>
            </a:r>
          </a:p>
          <a:p>
            <a:pPr marL="285750" indent="-285750" eaLnBrk="0" fontAlgn="base" hangingPunct="0">
              <a:spcBef>
                <a:spcPct val="0"/>
              </a:spcBef>
              <a:spcAft>
                <a:spcPct val="0"/>
              </a:spcAft>
              <a:buClrTx/>
              <a:buSzTx/>
              <a:buFont typeface="Courier New" panose="02070309020205020404" pitchFamily="49" charset="0"/>
              <a:buChar char="o"/>
            </a:pP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Identified trust deficit in AI diagnostics as key gap.</a:t>
            </a:r>
          </a:p>
          <a:p>
            <a:pPr marL="285750" indent="-285750" eaLnBrk="0" fontAlgn="base" hangingPunct="0">
              <a:spcBef>
                <a:spcPct val="0"/>
              </a:spcBef>
              <a:spcAft>
                <a:spcPct val="0"/>
              </a:spcAft>
              <a:buClrTx/>
              <a:buSzTx/>
              <a:buFont typeface="Courier New" panose="02070309020205020404" pitchFamily="49" charset="0"/>
              <a:buChar char="o"/>
            </a:pP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Defined system scope, architecture, and dataset criteria (Kaggle CT Scan Images).</a:t>
            </a:r>
          </a:p>
          <a:p>
            <a:pPr marL="285750" indent="-285750" eaLnBrk="0" fontAlgn="base" hangingPunct="0">
              <a:spcBef>
                <a:spcPct val="0"/>
              </a:spcBef>
              <a:spcAft>
                <a:spcPct val="0"/>
              </a:spcAft>
              <a:buClrTx/>
              <a:buSzTx/>
              <a:buFont typeface="Courier New" panose="02070309020205020404" pitchFamily="49" charset="0"/>
              <a:buChar char="o"/>
            </a:pPr>
            <a:endPar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endParaRPr>
          </a:p>
          <a:p>
            <a:pPr marL="285750" indent="-285750" eaLnBrk="0" fontAlgn="base" hangingPunct="0">
              <a:spcBef>
                <a:spcPct val="0"/>
              </a:spcBef>
              <a:spcAft>
                <a:spcPct val="0"/>
              </a:spcAft>
              <a:buClrTx/>
              <a:buSzTx/>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Phase 2 – Data Collection &amp; Preprocessing (Weeks 5–6)</a:t>
            </a:r>
            <a:endParaRPr kumimoji="0" lang="en-US" altLang="en-US" sz="16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indent="-285750" eaLnBrk="0" fontAlgn="base" hangingPunct="0">
              <a:spcBef>
                <a:spcPct val="0"/>
              </a:spcBef>
              <a:spcAft>
                <a:spcPct val="0"/>
              </a:spcAft>
              <a:buClrTx/>
              <a:buSzTx/>
              <a:buFont typeface="Courier New" panose="02070309020205020404" pitchFamily="49" charset="0"/>
              <a:buChar char="o"/>
            </a:pP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Collected CT datasets for Adenocarcinoma, SCC, and LCC.</a:t>
            </a:r>
          </a:p>
          <a:p>
            <a:pPr marL="285750" indent="-285750" eaLnBrk="0" fontAlgn="base" hangingPunct="0">
              <a:spcBef>
                <a:spcPct val="0"/>
              </a:spcBef>
              <a:spcAft>
                <a:spcPct val="0"/>
              </a:spcAft>
              <a:buClrTx/>
              <a:buSzTx/>
              <a:buFont typeface="Courier New" panose="02070309020205020404" pitchFamily="49" charset="0"/>
              <a:buChar char="o"/>
            </a:pP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Applied resizing, normalization, and augmentation.</a:t>
            </a:r>
          </a:p>
          <a:p>
            <a:pPr marL="285750" indent="-285750" eaLnBrk="0" fontAlgn="base" hangingPunct="0">
              <a:spcBef>
                <a:spcPct val="0"/>
              </a:spcBef>
              <a:spcAft>
                <a:spcPct val="0"/>
              </a:spcAft>
              <a:buClrTx/>
              <a:buSzTx/>
              <a:buFont typeface="Courier New" panose="02070309020205020404" pitchFamily="49" charset="0"/>
              <a:buChar char="o"/>
            </a:pP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Standardized annotations for class uniformity.</a:t>
            </a:r>
          </a:p>
          <a:p>
            <a:pPr marL="285750" indent="-285750" eaLnBrk="0" fontAlgn="base" hangingPunct="0">
              <a:spcBef>
                <a:spcPct val="0"/>
              </a:spcBef>
              <a:spcAft>
                <a:spcPct val="0"/>
              </a:spcAft>
              <a:buClrTx/>
              <a:buSzTx/>
              <a:buFont typeface="Courier New" panose="02070309020205020404" pitchFamily="49" charset="0"/>
              <a:buChar char="o"/>
            </a:pPr>
            <a:endPar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endParaRPr>
          </a:p>
          <a:p>
            <a:pPr marL="285750" indent="-285750" eaLnBrk="0" fontAlgn="base" hangingPunct="0">
              <a:spcBef>
                <a:spcPct val="0"/>
              </a:spcBef>
              <a:spcAft>
                <a:spcPct val="0"/>
              </a:spcAft>
              <a:buClrTx/>
              <a:buSzTx/>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Phase 3 – Model Development (Weeks 7–10)</a:t>
            </a:r>
            <a:endParaRPr kumimoji="0" lang="en-US" altLang="en-US" sz="16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indent="-285750" eaLnBrk="0" fontAlgn="base" hangingPunct="0">
              <a:spcBef>
                <a:spcPct val="0"/>
              </a:spcBef>
              <a:spcAft>
                <a:spcPct val="0"/>
              </a:spcAft>
              <a:buClrTx/>
              <a:buSzTx/>
              <a:buFont typeface="Courier New" panose="02070309020205020404" pitchFamily="49" charset="0"/>
              <a:buChar char="o"/>
            </a:pP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Implemented and fine-tuned CNN and Swin Transformer models.</a:t>
            </a:r>
          </a:p>
          <a:p>
            <a:pPr marL="285750" indent="-285750" eaLnBrk="0" fontAlgn="base" hangingPunct="0">
              <a:spcBef>
                <a:spcPct val="0"/>
              </a:spcBef>
              <a:spcAft>
                <a:spcPct val="0"/>
              </a:spcAft>
              <a:buClrTx/>
              <a:buSzTx/>
              <a:buFont typeface="Courier New" panose="02070309020205020404" pitchFamily="49" charset="0"/>
              <a:buChar char="o"/>
            </a:pP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Evaluated using accuracy, precision, recall, F1, and AUC.</a:t>
            </a:r>
          </a:p>
          <a:p>
            <a:pPr marL="285750" indent="-285750" eaLnBrk="0" fontAlgn="base" hangingPunct="0">
              <a:spcBef>
                <a:spcPct val="0"/>
              </a:spcBef>
              <a:spcAft>
                <a:spcPct val="0"/>
              </a:spcAft>
              <a:buClrTx/>
              <a:buSzTx/>
              <a:buFont typeface="Courier New" panose="02070309020205020404" pitchFamily="49" charset="0"/>
              <a:buChar char="o"/>
            </a:pP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Selected best-performing model for XAI integration.</a:t>
            </a:r>
          </a:p>
          <a:p>
            <a:pPr marL="285750" indent="-285750" eaLnBrk="0" fontAlgn="base" hangingPunct="0">
              <a:spcBef>
                <a:spcPct val="0"/>
              </a:spcBef>
              <a:spcAft>
                <a:spcPct val="0"/>
              </a:spcAft>
              <a:buClrTx/>
              <a:buSzTx/>
              <a:buFont typeface="Courier New" panose="02070309020205020404" pitchFamily="49" charset="0"/>
              <a:buChar char="o"/>
            </a:pPr>
            <a:endPar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endParaRPr>
          </a:p>
          <a:p>
            <a:pPr marL="285750" indent="-285750" eaLnBrk="0" fontAlgn="base" hangingPunct="0">
              <a:spcBef>
                <a:spcPct val="0"/>
              </a:spcBef>
              <a:spcAft>
                <a:spcPct val="0"/>
              </a:spcAft>
              <a:buClrTx/>
              <a:buSzTx/>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Phase 4 – XAI &amp; RAG Implementation (Weeks 11–14)</a:t>
            </a:r>
            <a:endParaRPr kumimoji="0" lang="en-US" altLang="en-US" sz="16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indent="-285750" eaLnBrk="0" fontAlgn="base" hangingPunct="0">
              <a:spcBef>
                <a:spcPct val="0"/>
              </a:spcBef>
              <a:spcAft>
                <a:spcPct val="0"/>
              </a:spcAft>
              <a:buClrTx/>
              <a:buSzTx/>
              <a:buFont typeface="Courier New" panose="02070309020205020404" pitchFamily="49" charset="0"/>
              <a:buChar char="o"/>
            </a:pP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Added Grad-CAM explainability for model transparency.</a:t>
            </a:r>
          </a:p>
          <a:p>
            <a:pPr marL="285750" indent="-285750" eaLnBrk="0" fontAlgn="base" hangingPunct="0">
              <a:spcBef>
                <a:spcPct val="0"/>
              </a:spcBef>
              <a:spcAft>
                <a:spcPct val="0"/>
              </a:spcAft>
              <a:buClrTx/>
              <a:buSzTx/>
              <a:buFont typeface="Courier New" panose="02070309020205020404" pitchFamily="49" charset="0"/>
              <a:buChar char="o"/>
            </a:pP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Integrated RAG to retrieve real-time literature (PubMed/OpenAI).</a:t>
            </a:r>
          </a:p>
          <a:p>
            <a:pPr marL="285750" indent="-285750" eaLnBrk="0" fontAlgn="base" hangingPunct="0">
              <a:spcBef>
                <a:spcPct val="0"/>
              </a:spcBef>
              <a:spcAft>
                <a:spcPct val="0"/>
              </a:spcAft>
              <a:buClrTx/>
              <a:buSzTx/>
              <a:buFont typeface="Courier New" panose="02070309020205020404" pitchFamily="49" charset="0"/>
              <a:buChar char="o"/>
            </a:pP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Linked heatmaps to textual evidence for clinical reasoning.</a:t>
            </a:r>
          </a:p>
          <a:p>
            <a:pPr marL="285750" indent="-285750" eaLnBrk="0" fontAlgn="base" hangingPunct="0">
              <a:spcBef>
                <a:spcPct val="0"/>
              </a:spcBef>
              <a:spcAft>
                <a:spcPct val="0"/>
              </a:spcAft>
              <a:buClrTx/>
              <a:buSzTx/>
            </a:pPr>
            <a:endPar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indent="-285750" eaLnBrk="0" fontAlgn="base" hangingPunct="0">
              <a:spcBef>
                <a:spcPct val="0"/>
              </a:spcBef>
              <a:spcAft>
                <a:spcPct val="0"/>
              </a:spcAft>
              <a:buClrTx/>
              <a:buSzTx/>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Phase 5 – Reporting &amp; Future Enhancements (Weeks 15–16)</a:t>
            </a:r>
            <a:endParaRPr kumimoji="0" lang="en-US" altLang="en-US" sz="16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indent="-285750" eaLnBrk="0" fontAlgn="base" hangingPunct="0">
              <a:spcBef>
                <a:spcPct val="0"/>
              </a:spcBef>
              <a:spcAft>
                <a:spcPct val="0"/>
              </a:spcAft>
              <a:buClrTx/>
              <a:buSzTx/>
              <a:buFont typeface="Courier New" panose="02070309020205020404" pitchFamily="49" charset="0"/>
              <a:buChar char="o"/>
            </a:pP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Prepared final report, documentation, and presentation.</a:t>
            </a:r>
          </a:p>
          <a:p>
            <a:pPr marL="285750" indent="-285750" eaLnBrk="0" fontAlgn="base" hangingPunct="0">
              <a:spcBef>
                <a:spcPct val="0"/>
              </a:spcBef>
              <a:spcAft>
                <a:spcPct val="0"/>
              </a:spcAft>
              <a:buClrTx/>
              <a:buSzTx/>
              <a:buFont typeface="Courier New" panose="02070309020205020404" pitchFamily="49" charset="0"/>
              <a:buChar char="o"/>
            </a:pP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Proposed future work: web deployment and continuous learning</a:t>
            </a:r>
            <a:r>
              <a:rPr kumimoji="0" lang="en-US" altLang="en-US" sz="16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a:t>
            </a:r>
            <a:endParaRPr kumimoji="0" lang="en-US" altLang="en-US" sz="140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1456811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7AD0C455-174E-3EE8-EF12-FDCA7BC81985}"/>
            </a:ext>
          </a:extLst>
        </p:cNvPr>
        <p:cNvGrpSpPr/>
        <p:nvPr/>
      </p:nvGrpSpPr>
      <p:grpSpPr>
        <a:xfrm>
          <a:off x="0" y="0"/>
          <a:ext cx="0" cy="0"/>
          <a:chOff x="0" y="0"/>
          <a:chExt cx="0" cy="0"/>
        </a:xfrm>
      </p:grpSpPr>
      <p:pic>
        <p:nvPicPr>
          <p:cNvPr id="98" name="Google Shape;98;p2">
            <a:extLst>
              <a:ext uri="{FF2B5EF4-FFF2-40B4-BE49-F238E27FC236}">
                <a16:creationId xmlns:a16="http://schemas.microsoft.com/office/drawing/2014/main" id="{CE96CB16-D976-260D-2CB8-C73C5F69047C}"/>
              </a:ext>
            </a:extLst>
          </p:cNvPr>
          <p:cNvPicPr preferRelativeResize="0"/>
          <p:nvPr/>
        </p:nvPicPr>
        <p:blipFill rotWithShape="1">
          <a:blip r:embed="rId3">
            <a:alphaModFix/>
          </a:blip>
          <a:srcRect/>
          <a:stretch/>
        </p:blipFill>
        <p:spPr>
          <a:xfrm>
            <a:off x="0" y="99321"/>
            <a:ext cx="1345676" cy="454032"/>
          </a:xfrm>
          <a:prstGeom prst="rect">
            <a:avLst/>
          </a:prstGeom>
          <a:noFill/>
          <a:ln>
            <a:noFill/>
          </a:ln>
        </p:spPr>
      </p:pic>
      <p:sp>
        <p:nvSpPr>
          <p:cNvPr id="96" name="Google Shape;96;p2">
            <a:extLst>
              <a:ext uri="{FF2B5EF4-FFF2-40B4-BE49-F238E27FC236}">
                <a16:creationId xmlns:a16="http://schemas.microsoft.com/office/drawing/2014/main" id="{77ABC5C8-D902-6FDE-E706-BF38264AFA27}"/>
              </a:ext>
            </a:extLst>
          </p:cNvPr>
          <p:cNvSpPr txBox="1">
            <a:spLocks noGrp="1"/>
          </p:cNvSpPr>
          <p:nvPr>
            <p:ph type="title"/>
          </p:nvPr>
        </p:nvSpPr>
        <p:spPr>
          <a:xfrm>
            <a:off x="457200" y="354620"/>
            <a:ext cx="8229600" cy="1143000"/>
          </a:xfrm>
          <a:prstGeom prst="rect">
            <a:avLst/>
          </a:prstGeom>
          <a:noFill/>
          <a:ln>
            <a:noFill/>
          </a:ln>
        </p:spPr>
        <p:txBody>
          <a:bodyPr spcFirstLastPara="1" wrap="square" lIns="91425" tIns="45700" rIns="91425" bIns="45700" anchor="ctr" anchorCtr="0">
            <a:normAutofit/>
          </a:bodyPr>
          <a:lstStyle/>
          <a:p>
            <a:r>
              <a:rPr lang="en-US" b="1" dirty="0"/>
              <a:t>System Architecture </a:t>
            </a:r>
          </a:p>
        </p:txBody>
      </p:sp>
      <p:sp>
        <p:nvSpPr>
          <p:cNvPr id="99" name="Google Shape;99;p2">
            <a:extLst>
              <a:ext uri="{FF2B5EF4-FFF2-40B4-BE49-F238E27FC236}">
                <a16:creationId xmlns:a16="http://schemas.microsoft.com/office/drawing/2014/main" id="{81496CCB-EAAF-0FAF-0EF5-B6AD74C2D95B}"/>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fld id="{D15CBDC1-4D60-49C2-8F68-274855D002DB}" type="datetime1">
              <a:rPr lang="en-US" smtClean="0"/>
              <a:t>11/8/2025</a:t>
            </a:fld>
            <a:endParaRPr dirty="0"/>
          </a:p>
        </p:txBody>
      </p:sp>
      <p:sp>
        <p:nvSpPr>
          <p:cNvPr id="100" name="Google Shape;100;p2">
            <a:extLst>
              <a:ext uri="{FF2B5EF4-FFF2-40B4-BE49-F238E27FC236}">
                <a16:creationId xmlns:a16="http://schemas.microsoft.com/office/drawing/2014/main" id="{83AD8CEF-2EB1-567C-AF2A-ECD6B0BB51A3}"/>
              </a:ext>
            </a:extLst>
          </p:cNvPr>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01" name="Google Shape;101;p2">
            <a:extLst>
              <a:ext uri="{FF2B5EF4-FFF2-40B4-BE49-F238E27FC236}">
                <a16:creationId xmlns:a16="http://schemas.microsoft.com/office/drawing/2014/main" id="{F947EB04-8F67-DC93-6E62-169FC10EFB48}"/>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
        <p:nvSpPr>
          <p:cNvPr id="7" name="Rectangle 5">
            <a:extLst>
              <a:ext uri="{FF2B5EF4-FFF2-40B4-BE49-F238E27FC236}">
                <a16:creationId xmlns:a16="http://schemas.microsoft.com/office/drawing/2014/main" id="{B3FC392A-2BC1-91CC-54E5-C2FA10F8A0C5}"/>
              </a:ext>
            </a:extLst>
          </p:cNvPr>
          <p:cNvSpPr>
            <a:spLocks noGrp="1" noChangeArrowheads="1"/>
          </p:cNvSpPr>
          <p:nvPr>
            <p:ph type="body" idx="1"/>
          </p:nvPr>
        </p:nvSpPr>
        <p:spPr bwMode="auto">
          <a:xfrm>
            <a:off x="542041" y="3717689"/>
            <a:ext cx="770641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spcBef>
                <a:spcPct val="0"/>
              </a:spcBef>
              <a:spcAft>
                <a:spcPct val="0"/>
              </a:spcAft>
              <a:buClrTx/>
              <a:buSzTx/>
              <a:buNone/>
            </a:pPr>
            <a:endParaRPr kumimoji="0" lang="en-US" altLang="en-US" sz="140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3506402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FDE7CF48-15AD-8C40-2D1E-A5EAE139E778}"/>
            </a:ext>
          </a:extLst>
        </p:cNvPr>
        <p:cNvGrpSpPr/>
        <p:nvPr/>
      </p:nvGrpSpPr>
      <p:grpSpPr>
        <a:xfrm>
          <a:off x="0" y="0"/>
          <a:ext cx="0" cy="0"/>
          <a:chOff x="0" y="0"/>
          <a:chExt cx="0" cy="0"/>
        </a:xfrm>
      </p:grpSpPr>
      <p:pic>
        <p:nvPicPr>
          <p:cNvPr id="98" name="Google Shape;98;p2">
            <a:extLst>
              <a:ext uri="{FF2B5EF4-FFF2-40B4-BE49-F238E27FC236}">
                <a16:creationId xmlns:a16="http://schemas.microsoft.com/office/drawing/2014/main" id="{20E7F5CC-0B16-93A9-ABA4-0E1ACF77FD44}"/>
              </a:ext>
            </a:extLst>
          </p:cNvPr>
          <p:cNvPicPr preferRelativeResize="0"/>
          <p:nvPr/>
        </p:nvPicPr>
        <p:blipFill rotWithShape="1">
          <a:blip r:embed="rId3">
            <a:alphaModFix/>
          </a:blip>
          <a:srcRect/>
          <a:stretch/>
        </p:blipFill>
        <p:spPr>
          <a:xfrm>
            <a:off x="0" y="99321"/>
            <a:ext cx="1345676" cy="454032"/>
          </a:xfrm>
          <a:prstGeom prst="rect">
            <a:avLst/>
          </a:prstGeom>
          <a:noFill/>
          <a:ln>
            <a:noFill/>
          </a:ln>
        </p:spPr>
      </p:pic>
      <p:sp>
        <p:nvSpPr>
          <p:cNvPr id="96" name="Google Shape;96;p2">
            <a:extLst>
              <a:ext uri="{FF2B5EF4-FFF2-40B4-BE49-F238E27FC236}">
                <a16:creationId xmlns:a16="http://schemas.microsoft.com/office/drawing/2014/main" id="{33A716C2-70B2-7712-B556-4433BBCE270F}"/>
              </a:ext>
            </a:extLst>
          </p:cNvPr>
          <p:cNvSpPr txBox="1">
            <a:spLocks noGrp="1"/>
          </p:cNvSpPr>
          <p:nvPr>
            <p:ph type="title"/>
          </p:nvPr>
        </p:nvSpPr>
        <p:spPr>
          <a:xfrm>
            <a:off x="457200" y="354620"/>
            <a:ext cx="8229600" cy="1143000"/>
          </a:xfrm>
          <a:prstGeom prst="rect">
            <a:avLst/>
          </a:prstGeom>
          <a:noFill/>
          <a:ln>
            <a:noFill/>
          </a:ln>
        </p:spPr>
        <p:txBody>
          <a:bodyPr spcFirstLastPara="1" wrap="square" lIns="91425" tIns="45700" rIns="91425" bIns="45700" anchor="ctr" anchorCtr="0">
            <a:normAutofit/>
          </a:bodyPr>
          <a:lstStyle/>
          <a:p>
            <a:r>
              <a:rPr lang="en-US" b="1" dirty="0"/>
              <a:t>System Architecture </a:t>
            </a:r>
          </a:p>
        </p:txBody>
      </p:sp>
      <p:sp>
        <p:nvSpPr>
          <p:cNvPr id="99" name="Google Shape;99;p2">
            <a:extLst>
              <a:ext uri="{FF2B5EF4-FFF2-40B4-BE49-F238E27FC236}">
                <a16:creationId xmlns:a16="http://schemas.microsoft.com/office/drawing/2014/main" id="{8403F1FA-8EE7-3708-BD6C-FA7EE55E218C}"/>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fld id="{D15CBDC1-4D60-49C2-8F68-274855D002DB}" type="datetime1">
              <a:rPr lang="en-US" smtClean="0"/>
              <a:t>11/8/2025</a:t>
            </a:fld>
            <a:endParaRPr dirty="0"/>
          </a:p>
        </p:txBody>
      </p:sp>
      <p:sp>
        <p:nvSpPr>
          <p:cNvPr id="100" name="Google Shape;100;p2">
            <a:extLst>
              <a:ext uri="{FF2B5EF4-FFF2-40B4-BE49-F238E27FC236}">
                <a16:creationId xmlns:a16="http://schemas.microsoft.com/office/drawing/2014/main" id="{076C24F9-5CBB-517A-BCD0-4EA71B2714DF}"/>
              </a:ext>
            </a:extLst>
          </p:cNvPr>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01" name="Google Shape;101;p2">
            <a:extLst>
              <a:ext uri="{FF2B5EF4-FFF2-40B4-BE49-F238E27FC236}">
                <a16:creationId xmlns:a16="http://schemas.microsoft.com/office/drawing/2014/main" id="{BFC2A9D2-5D30-55B7-5121-62DEC4F6C0BE}"/>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
        <p:nvSpPr>
          <p:cNvPr id="7" name="Rectangle 5">
            <a:extLst>
              <a:ext uri="{FF2B5EF4-FFF2-40B4-BE49-F238E27FC236}">
                <a16:creationId xmlns:a16="http://schemas.microsoft.com/office/drawing/2014/main" id="{8619133F-0B09-7BE2-34C9-5B617C50CB3B}"/>
              </a:ext>
            </a:extLst>
          </p:cNvPr>
          <p:cNvSpPr>
            <a:spLocks noGrp="1" noChangeArrowheads="1"/>
          </p:cNvSpPr>
          <p:nvPr>
            <p:ph type="body" idx="1"/>
          </p:nvPr>
        </p:nvSpPr>
        <p:spPr bwMode="auto">
          <a:xfrm>
            <a:off x="542041" y="1347813"/>
            <a:ext cx="7706412" cy="5047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eaLnBrk="0" fontAlgn="base" hangingPunct="0">
              <a:spcBef>
                <a:spcPct val="0"/>
              </a:spcBef>
              <a:spcAft>
                <a:spcPct val="0"/>
              </a:spcAft>
              <a:buClrTx/>
              <a:buSzTx/>
              <a:buAutoNum type="arabicPeriod"/>
            </a:pPr>
            <a:r>
              <a:rPr lang="en-US" alt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Data Acquisition and Preprocessing:</a:t>
            </a:r>
          </a:p>
          <a:p>
            <a:pPr marL="285750" indent="-285750" eaLnBrk="0" fontAlgn="base" hangingPunct="0">
              <a:spcBef>
                <a:spcPct val="0"/>
              </a:spcBef>
              <a:spcAft>
                <a:spcPct val="0"/>
              </a:spcAft>
              <a:buClrTx/>
              <a:buSzTx/>
            </a:pPr>
            <a:r>
              <a:rPr lang="en-US" altLang="en-US" sz="1200" dirty="0">
                <a:solidFill>
                  <a:schemeClr val="tx1"/>
                </a:solidFill>
                <a:latin typeface="+mj-lt"/>
              </a:rPr>
              <a:t>Dataset: Kaggle – CT Scan Images of Lung Cancer Patients (5 classes: Adenocarcinoma, Squamous Cell Carcinoma, Large Cell Carcinoma, Benign, Normal).Image normalization, noise reduction, and CLAHE for contrast enhancement.</a:t>
            </a:r>
          </a:p>
          <a:p>
            <a:pPr marL="285750" indent="-285750" eaLnBrk="0" fontAlgn="base" hangingPunct="0">
              <a:spcBef>
                <a:spcPct val="0"/>
              </a:spcBef>
              <a:spcAft>
                <a:spcPct val="0"/>
              </a:spcAft>
              <a:buClrTx/>
              <a:buSzTx/>
            </a:pPr>
            <a:r>
              <a:rPr lang="en-US" altLang="en-US" sz="1200" dirty="0">
                <a:solidFill>
                  <a:schemeClr val="tx1"/>
                </a:solidFill>
                <a:latin typeface="+mj-lt"/>
              </a:rPr>
              <a:t>Data augmentation: rotation, flipping, scaling to improve model robustness.</a:t>
            </a:r>
          </a:p>
          <a:p>
            <a:pPr marL="285750" indent="-285750" eaLnBrk="0" fontAlgn="base" hangingPunct="0">
              <a:spcBef>
                <a:spcPct val="0"/>
              </a:spcBef>
              <a:spcAft>
                <a:spcPct val="0"/>
              </a:spcAft>
              <a:buClrTx/>
              <a:buSzTx/>
            </a:pPr>
            <a:r>
              <a:rPr lang="en-US" altLang="en-US" sz="1200" dirty="0">
                <a:solidFill>
                  <a:schemeClr val="tx1"/>
                </a:solidFill>
                <a:latin typeface="+mj-lt"/>
              </a:rPr>
              <a:t>Dataset split: 70% Training | 15% Validation | 15% Testing.</a:t>
            </a:r>
          </a:p>
          <a:p>
            <a:pPr marL="0" indent="0" eaLnBrk="0" fontAlgn="base" hangingPunct="0">
              <a:spcBef>
                <a:spcPct val="0"/>
              </a:spcBef>
              <a:spcAft>
                <a:spcPct val="0"/>
              </a:spcAft>
              <a:buClrTx/>
              <a:buSzTx/>
              <a:buNone/>
            </a:pPr>
            <a:r>
              <a:rPr lang="en-US" alt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2. Feature Extraction &amp; Classification:</a:t>
            </a:r>
          </a:p>
          <a:p>
            <a:pPr marL="285750" indent="-285750" eaLnBrk="0" fontAlgn="base" hangingPunct="0">
              <a:spcBef>
                <a:spcPct val="0"/>
              </a:spcBef>
              <a:spcAft>
                <a:spcPct val="0"/>
              </a:spcAft>
              <a:buClrTx/>
              <a:buSzTx/>
            </a:pPr>
            <a:r>
              <a:rPr lang="en-US" altLang="en-US" sz="1200" dirty="0">
                <a:solidFill>
                  <a:schemeClr val="tx1"/>
                </a:solidFill>
                <a:latin typeface="+mj-lt"/>
              </a:rPr>
              <a:t>Model: Vision Transformer (</a:t>
            </a:r>
            <a:r>
              <a:rPr lang="en-US" altLang="en-US" sz="1200" dirty="0" err="1">
                <a:solidFill>
                  <a:schemeClr val="tx1"/>
                </a:solidFill>
                <a:latin typeface="+mj-lt"/>
              </a:rPr>
              <a:t>ViT</a:t>
            </a:r>
            <a:r>
              <a:rPr lang="en-US" altLang="en-US" sz="1200" dirty="0">
                <a:solidFill>
                  <a:schemeClr val="tx1"/>
                </a:solidFill>
                <a:latin typeface="+mj-lt"/>
              </a:rPr>
              <a:t>) pretrained on ImageNet, fine-tuned for multi-class classification.</a:t>
            </a:r>
          </a:p>
          <a:p>
            <a:pPr marL="285750" indent="-285750" eaLnBrk="0" fontAlgn="base" hangingPunct="0">
              <a:spcBef>
                <a:spcPct val="0"/>
              </a:spcBef>
              <a:spcAft>
                <a:spcPct val="0"/>
              </a:spcAft>
              <a:buClrTx/>
              <a:buSzTx/>
            </a:pPr>
            <a:r>
              <a:rPr lang="en-US" altLang="en-US" sz="1200" dirty="0">
                <a:solidFill>
                  <a:schemeClr val="tx1"/>
                </a:solidFill>
                <a:latin typeface="+mj-lt"/>
              </a:rPr>
              <a:t>Optimized using </a:t>
            </a:r>
            <a:r>
              <a:rPr lang="en-US" altLang="en-US" sz="1200" dirty="0" err="1">
                <a:solidFill>
                  <a:schemeClr val="tx1"/>
                </a:solidFill>
                <a:latin typeface="+mj-lt"/>
              </a:rPr>
              <a:t>AdamW</a:t>
            </a:r>
            <a:r>
              <a:rPr lang="en-US" altLang="en-US" sz="1200" dirty="0">
                <a:solidFill>
                  <a:schemeClr val="tx1"/>
                </a:solidFill>
                <a:latin typeface="+mj-lt"/>
              </a:rPr>
              <a:t>, early stopping, and grid search for hyperparameter tuning.</a:t>
            </a:r>
          </a:p>
          <a:p>
            <a:pPr marL="285750" indent="-285750" eaLnBrk="0" fontAlgn="base" hangingPunct="0">
              <a:spcBef>
                <a:spcPct val="0"/>
              </a:spcBef>
              <a:spcAft>
                <a:spcPct val="0"/>
              </a:spcAft>
              <a:buClrTx/>
              <a:buSzTx/>
            </a:pPr>
            <a:r>
              <a:rPr lang="en-US" altLang="en-US" sz="1200" dirty="0">
                <a:solidFill>
                  <a:schemeClr val="tx1"/>
                </a:solidFill>
                <a:latin typeface="+mj-lt"/>
              </a:rPr>
              <a:t>Output layer: </a:t>
            </a:r>
            <a:r>
              <a:rPr lang="en-US" altLang="en-US" sz="1200" dirty="0" err="1">
                <a:solidFill>
                  <a:schemeClr val="tx1"/>
                </a:solidFill>
                <a:latin typeface="+mj-lt"/>
              </a:rPr>
              <a:t>Softmax</a:t>
            </a:r>
            <a:r>
              <a:rPr lang="en-US" altLang="en-US" sz="1200" dirty="0">
                <a:solidFill>
                  <a:schemeClr val="tx1"/>
                </a:solidFill>
                <a:latin typeface="+mj-lt"/>
              </a:rPr>
              <a:t> activation with Cross-Entropy Loss for accurate label prediction</a:t>
            </a:r>
          </a:p>
          <a:p>
            <a:pPr marL="0" indent="0" eaLnBrk="0" fontAlgn="base" hangingPunct="0">
              <a:spcBef>
                <a:spcPct val="0"/>
              </a:spcBef>
              <a:spcAft>
                <a:spcPct val="0"/>
              </a:spcAft>
              <a:buClrTx/>
              <a:buSzTx/>
              <a:buNone/>
            </a:pPr>
            <a:r>
              <a:rPr lang="en-US" altLang="en-US" sz="1200" b="1" dirty="0">
                <a:solidFill>
                  <a:schemeClr val="tx1"/>
                </a:solidFill>
                <a:latin typeface="+mj-lt"/>
              </a:rPr>
              <a:t>3</a:t>
            </a:r>
            <a:r>
              <a:rPr lang="en-US" alt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 Explainability (XAI) Module:</a:t>
            </a:r>
          </a:p>
          <a:p>
            <a:pPr marL="285750" indent="-285750" eaLnBrk="0" fontAlgn="base" hangingPunct="0">
              <a:spcBef>
                <a:spcPct val="0"/>
              </a:spcBef>
              <a:spcAft>
                <a:spcPct val="0"/>
              </a:spcAft>
              <a:buClrTx/>
              <a:buSzTx/>
            </a:pPr>
            <a:r>
              <a:rPr lang="en-US" altLang="en-US" sz="1200" b="1" dirty="0">
                <a:solidFill>
                  <a:schemeClr val="tx1"/>
                </a:solidFill>
                <a:latin typeface="+mj-lt"/>
              </a:rPr>
              <a:t> </a:t>
            </a:r>
            <a:r>
              <a:rPr lang="en-US" altLang="en-US" sz="1200" dirty="0">
                <a:solidFill>
                  <a:schemeClr val="tx1"/>
                </a:solidFill>
                <a:latin typeface="+mj-lt"/>
              </a:rPr>
              <a:t>Uses Grad-CAM to generate visual heatmaps highlighting key diagnostic regions.</a:t>
            </a:r>
          </a:p>
          <a:p>
            <a:pPr marL="285750" indent="-285750" eaLnBrk="0" fontAlgn="base" hangingPunct="0">
              <a:spcBef>
                <a:spcPct val="0"/>
              </a:spcBef>
              <a:spcAft>
                <a:spcPct val="0"/>
              </a:spcAft>
              <a:buClrTx/>
              <a:buSzTx/>
            </a:pPr>
            <a:r>
              <a:rPr lang="en-US" altLang="en-US" sz="1200" dirty="0">
                <a:solidFill>
                  <a:schemeClr val="tx1"/>
                </a:solidFill>
                <a:latin typeface="+mj-lt"/>
              </a:rPr>
              <a:t>Enables Integrated Grad-CAM to highlight critical CT regions influencing predictions.</a:t>
            </a:r>
          </a:p>
          <a:p>
            <a:pPr marL="285750" indent="-285750" eaLnBrk="0" fontAlgn="base" hangingPunct="0">
              <a:spcBef>
                <a:spcPct val="0"/>
              </a:spcBef>
              <a:spcAft>
                <a:spcPct val="0"/>
              </a:spcAft>
              <a:buClrTx/>
              <a:buSzTx/>
            </a:pPr>
            <a:r>
              <a:rPr lang="en-US" altLang="en-US" sz="1200" dirty="0">
                <a:solidFill>
                  <a:schemeClr val="tx1"/>
                </a:solidFill>
                <a:latin typeface="+mj-lt"/>
              </a:rPr>
              <a:t>Visual overlays validated against clinical features (opacity, tumor margins).</a:t>
            </a:r>
          </a:p>
          <a:p>
            <a:pPr marL="285750" indent="-285750" eaLnBrk="0" fontAlgn="base" hangingPunct="0">
              <a:spcBef>
                <a:spcPct val="0"/>
              </a:spcBef>
              <a:spcAft>
                <a:spcPct val="0"/>
              </a:spcAft>
              <a:buClrTx/>
              <a:buSzTx/>
            </a:pPr>
            <a:r>
              <a:rPr lang="en-US" altLang="en-US" sz="1200" dirty="0">
                <a:solidFill>
                  <a:schemeClr val="tx1"/>
                </a:solidFill>
                <a:latin typeface="+mj-lt"/>
              </a:rPr>
              <a:t>Quantitative interpretability metrics ensure transparency and trust. </a:t>
            </a:r>
          </a:p>
          <a:p>
            <a:pPr marL="0" indent="0" eaLnBrk="0" fontAlgn="base" hangingPunct="0">
              <a:spcBef>
                <a:spcPct val="0"/>
              </a:spcBef>
              <a:spcAft>
                <a:spcPct val="0"/>
              </a:spcAft>
              <a:buClrTx/>
              <a:buSzTx/>
              <a:buNone/>
            </a:pPr>
            <a:r>
              <a:rPr lang="en-US" alt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4. RAG-Based Knowledge Retrieval:</a:t>
            </a:r>
          </a:p>
          <a:p>
            <a:pPr marL="285750" indent="-285750" eaLnBrk="0" fontAlgn="base" hangingPunct="0">
              <a:spcBef>
                <a:spcPct val="0"/>
              </a:spcBef>
              <a:spcAft>
                <a:spcPct val="0"/>
              </a:spcAft>
              <a:buClrTx/>
              <a:buSzTx/>
            </a:pPr>
            <a:r>
              <a:rPr lang="en-US" altLang="en-US" sz="1200" dirty="0">
                <a:solidFill>
                  <a:schemeClr val="tx1"/>
                </a:solidFill>
                <a:latin typeface="+mj-lt"/>
              </a:rPr>
              <a:t>Extracts predicted class and image cues to query a curated PubMed/medical database.</a:t>
            </a:r>
          </a:p>
          <a:p>
            <a:pPr marL="285750" indent="-285750" eaLnBrk="0" fontAlgn="base" hangingPunct="0">
              <a:spcBef>
                <a:spcPct val="0"/>
              </a:spcBef>
              <a:spcAft>
                <a:spcPct val="0"/>
              </a:spcAft>
              <a:buClrTx/>
              <a:buSzTx/>
            </a:pPr>
            <a:r>
              <a:rPr lang="en-US" altLang="en-US" sz="1200" dirty="0">
                <a:solidFill>
                  <a:schemeClr val="tx1"/>
                </a:solidFill>
                <a:latin typeface="+mj-lt"/>
              </a:rPr>
              <a:t>Uses Retriever + Generator pipeline to provide short, evidence-backed textual explanations supporting each prediction.</a:t>
            </a:r>
          </a:p>
          <a:p>
            <a:pPr marL="0" indent="0" eaLnBrk="0" fontAlgn="base" hangingPunct="0">
              <a:spcBef>
                <a:spcPct val="0"/>
              </a:spcBef>
              <a:spcAft>
                <a:spcPct val="0"/>
              </a:spcAft>
              <a:buClrTx/>
              <a:buSzTx/>
              <a:buNone/>
            </a:pPr>
            <a:r>
              <a:rPr lang="en-US" alt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5. Output Integration Layer: </a:t>
            </a:r>
          </a:p>
          <a:p>
            <a:pPr marL="285750" indent="-285750" eaLnBrk="0" fontAlgn="base" hangingPunct="0">
              <a:spcBef>
                <a:spcPct val="0"/>
              </a:spcBef>
              <a:spcAft>
                <a:spcPct val="0"/>
              </a:spcAft>
              <a:buClrTx/>
              <a:buSzTx/>
            </a:pPr>
            <a:r>
              <a:rPr lang="en-US" altLang="en-US" sz="1200" dirty="0">
                <a:solidFill>
                  <a:schemeClr val="tx1"/>
                </a:solidFill>
                <a:latin typeface="+mj-lt"/>
              </a:rPr>
              <a:t>Metrics: Accuracy, Precision, Recall, F1-Score, AUC-ROC.</a:t>
            </a:r>
          </a:p>
          <a:p>
            <a:pPr marL="285750" indent="-285750" eaLnBrk="0" fontAlgn="base" hangingPunct="0">
              <a:spcBef>
                <a:spcPct val="0"/>
              </a:spcBef>
              <a:spcAft>
                <a:spcPct val="0"/>
              </a:spcAft>
              <a:buClrTx/>
              <a:buSzTx/>
            </a:pPr>
            <a:r>
              <a:rPr lang="en-US" altLang="en-US" sz="1200" dirty="0">
                <a:solidFill>
                  <a:schemeClr val="tx1"/>
                </a:solidFill>
                <a:latin typeface="+mj-lt"/>
              </a:rPr>
              <a:t>Expected performance: Accuracy 85–90%, Precision ≥86%, Recall ≥84%, F1 85–88%, AUC 0.90–0.93.Combines classification output, Grad-CAM heatmaps, confidence scores, and RAG justifications into a unified result interface for interpretive visualization.</a:t>
            </a:r>
          </a:p>
          <a:p>
            <a:pPr marL="285750" indent="-285750" eaLnBrk="0" fontAlgn="base" hangingPunct="0">
              <a:spcBef>
                <a:spcPct val="0"/>
              </a:spcBef>
              <a:spcAft>
                <a:spcPct val="0"/>
              </a:spcAft>
              <a:buClrTx/>
              <a:buSzTx/>
            </a:pPr>
            <a:r>
              <a:rPr lang="en-US" altLang="en-US" sz="1200" dirty="0">
                <a:solidFill>
                  <a:schemeClr val="tx1"/>
                </a:solidFill>
                <a:latin typeface="+mj-lt"/>
              </a:rPr>
              <a:t>Designed to assist clinicians by providing explainable, literature-supported diagnostic insights from CT images..</a:t>
            </a:r>
            <a:endParaRPr kumimoji="0" lang="en-US" altLang="en-US" sz="120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2492060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0A6F7711-B1C3-1804-E0A2-8E7C4C9269A0}"/>
            </a:ext>
          </a:extLst>
        </p:cNvPr>
        <p:cNvGrpSpPr/>
        <p:nvPr/>
      </p:nvGrpSpPr>
      <p:grpSpPr>
        <a:xfrm>
          <a:off x="0" y="0"/>
          <a:ext cx="0" cy="0"/>
          <a:chOff x="0" y="0"/>
          <a:chExt cx="0" cy="0"/>
        </a:xfrm>
      </p:grpSpPr>
      <p:pic>
        <p:nvPicPr>
          <p:cNvPr id="98" name="Google Shape;98;p2">
            <a:extLst>
              <a:ext uri="{FF2B5EF4-FFF2-40B4-BE49-F238E27FC236}">
                <a16:creationId xmlns:a16="http://schemas.microsoft.com/office/drawing/2014/main" id="{278A7D11-6E63-63F5-5E12-AC720E129C8D}"/>
              </a:ext>
            </a:extLst>
          </p:cNvPr>
          <p:cNvPicPr preferRelativeResize="0"/>
          <p:nvPr/>
        </p:nvPicPr>
        <p:blipFill rotWithShape="1">
          <a:blip r:embed="rId3">
            <a:alphaModFix/>
          </a:blip>
          <a:srcRect/>
          <a:stretch/>
        </p:blipFill>
        <p:spPr>
          <a:xfrm>
            <a:off x="0" y="99321"/>
            <a:ext cx="1345676" cy="454032"/>
          </a:xfrm>
          <a:prstGeom prst="rect">
            <a:avLst/>
          </a:prstGeom>
          <a:noFill/>
          <a:ln>
            <a:noFill/>
          </a:ln>
        </p:spPr>
      </p:pic>
      <p:sp>
        <p:nvSpPr>
          <p:cNvPr id="96" name="Google Shape;96;p2">
            <a:extLst>
              <a:ext uri="{FF2B5EF4-FFF2-40B4-BE49-F238E27FC236}">
                <a16:creationId xmlns:a16="http://schemas.microsoft.com/office/drawing/2014/main" id="{9FC2246B-9BCA-7C73-A2BC-06DFC55C7219}"/>
              </a:ext>
            </a:extLst>
          </p:cNvPr>
          <p:cNvSpPr txBox="1">
            <a:spLocks noGrp="1"/>
          </p:cNvSpPr>
          <p:nvPr>
            <p:ph type="title"/>
          </p:nvPr>
        </p:nvSpPr>
        <p:spPr>
          <a:xfrm>
            <a:off x="457200" y="354620"/>
            <a:ext cx="8229600" cy="1143000"/>
          </a:xfrm>
          <a:prstGeom prst="rect">
            <a:avLst/>
          </a:prstGeom>
          <a:noFill/>
          <a:ln>
            <a:noFill/>
          </a:ln>
        </p:spPr>
        <p:txBody>
          <a:bodyPr spcFirstLastPara="1" wrap="square" lIns="91425" tIns="45700" rIns="91425" bIns="45700" anchor="ctr" anchorCtr="0">
            <a:normAutofit fontScale="90000"/>
          </a:bodyPr>
          <a:lstStyle/>
          <a:p>
            <a:r>
              <a:rPr lang="en-US" b="1" dirty="0"/>
              <a:t>Dataset Description and Characteristics</a:t>
            </a:r>
          </a:p>
        </p:txBody>
      </p:sp>
      <p:sp>
        <p:nvSpPr>
          <p:cNvPr id="99" name="Google Shape;99;p2">
            <a:extLst>
              <a:ext uri="{FF2B5EF4-FFF2-40B4-BE49-F238E27FC236}">
                <a16:creationId xmlns:a16="http://schemas.microsoft.com/office/drawing/2014/main" id="{C1E67298-066F-C95E-D418-F9EF4F12D059}"/>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fld id="{D15CBDC1-4D60-49C2-8F68-274855D002DB}" type="datetime1">
              <a:rPr lang="en-US" smtClean="0"/>
              <a:t>11/8/2025</a:t>
            </a:fld>
            <a:endParaRPr dirty="0"/>
          </a:p>
        </p:txBody>
      </p:sp>
      <p:sp>
        <p:nvSpPr>
          <p:cNvPr id="100" name="Google Shape;100;p2">
            <a:extLst>
              <a:ext uri="{FF2B5EF4-FFF2-40B4-BE49-F238E27FC236}">
                <a16:creationId xmlns:a16="http://schemas.microsoft.com/office/drawing/2014/main" id="{575AE197-0844-72BC-7F20-D2F35A2157F1}"/>
              </a:ext>
            </a:extLst>
          </p:cNvPr>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01" name="Google Shape;101;p2">
            <a:extLst>
              <a:ext uri="{FF2B5EF4-FFF2-40B4-BE49-F238E27FC236}">
                <a16:creationId xmlns:a16="http://schemas.microsoft.com/office/drawing/2014/main" id="{BA670781-91F2-8CA5-7E0B-0C86692378FC}"/>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
        <p:nvSpPr>
          <p:cNvPr id="7" name="Rectangle 5">
            <a:extLst>
              <a:ext uri="{FF2B5EF4-FFF2-40B4-BE49-F238E27FC236}">
                <a16:creationId xmlns:a16="http://schemas.microsoft.com/office/drawing/2014/main" id="{289975F4-7FE1-2EB3-7C43-FADED3BB45DD}"/>
              </a:ext>
            </a:extLst>
          </p:cNvPr>
          <p:cNvSpPr>
            <a:spLocks noGrp="1" noChangeArrowheads="1"/>
          </p:cNvSpPr>
          <p:nvPr>
            <p:ph type="body" idx="1"/>
          </p:nvPr>
        </p:nvSpPr>
        <p:spPr bwMode="auto">
          <a:xfrm>
            <a:off x="532143" y="1728452"/>
            <a:ext cx="7706412" cy="1415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spcBef>
                <a:spcPct val="0"/>
              </a:spcBef>
              <a:spcAft>
                <a:spcPct val="0"/>
              </a:spcAft>
              <a:buClrTx/>
              <a:buSzTx/>
              <a:buNone/>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Input and Preprocessing Module: </a:t>
            </a:r>
          </a:p>
          <a:p>
            <a:pPr marL="285750" indent="-285750" eaLnBrk="0" fontAlgn="base" hangingPunct="0">
              <a:spcBef>
                <a:spcPct val="0"/>
              </a:spcBef>
              <a:spcAft>
                <a:spcPct val="0"/>
              </a:spcAft>
              <a:buClrTx/>
              <a:buSzTx/>
            </a:pP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a:t>
            </a:r>
            <a:r>
              <a:rPr kumimoji="0" lang="en-GB"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Dataset: </a:t>
            </a:r>
            <a:r>
              <a:rPr kumimoji="0" lang="en-GB"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Kaggle CT Scan Images of Lung Cancer Patients – includes CT scans of Adenocarcinoma, Large Cell Carcinoma, Squamous Cell Carcinoma, and Normal cases.</a:t>
            </a:r>
          </a:p>
          <a:p>
            <a:pPr marL="285750" indent="-285750" eaLnBrk="0" fontAlgn="base" hangingPunct="0">
              <a:spcBef>
                <a:spcPct val="0"/>
              </a:spcBef>
              <a:spcAft>
                <a:spcPct val="0"/>
              </a:spcAft>
              <a:buClrTx/>
              <a:buSzTx/>
            </a:pPr>
            <a:r>
              <a:rPr kumimoji="0" lang="en-GB"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Preprocessing: </a:t>
            </a:r>
            <a:r>
              <a:rPr kumimoji="0" lang="en-GB"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Image resizing, normalization, and augmentation for class balance and improved model generalization.</a:t>
            </a:r>
          </a:p>
          <a:p>
            <a:pPr marL="285750" indent="-285750" eaLnBrk="0" fontAlgn="base" hangingPunct="0">
              <a:spcBef>
                <a:spcPct val="0"/>
              </a:spcBef>
              <a:spcAft>
                <a:spcPct val="0"/>
              </a:spcAft>
              <a:buClrTx/>
              <a:buSzTx/>
            </a:pPr>
            <a:r>
              <a:rPr kumimoji="0" lang="en-GB"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Composition:</a:t>
            </a:r>
            <a:endPar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2" name="Table 1">
            <a:extLst>
              <a:ext uri="{FF2B5EF4-FFF2-40B4-BE49-F238E27FC236}">
                <a16:creationId xmlns:a16="http://schemas.microsoft.com/office/drawing/2014/main" id="{8622874D-2787-5AB6-D565-C78CADA4A030}"/>
              </a:ext>
            </a:extLst>
          </p:cNvPr>
          <p:cNvGraphicFramePr>
            <a:graphicFrameLocks noGrp="1"/>
          </p:cNvGraphicFramePr>
          <p:nvPr>
            <p:extLst>
              <p:ext uri="{D42A27DB-BD31-4B8C-83A1-F6EECF244321}">
                <p14:modId xmlns:p14="http://schemas.microsoft.com/office/powerpoint/2010/main" val="1850135498"/>
              </p:ext>
            </p:extLst>
          </p:nvPr>
        </p:nvGraphicFramePr>
        <p:xfrm>
          <a:off x="619760" y="3286654"/>
          <a:ext cx="8067039" cy="2519680"/>
        </p:xfrm>
        <a:graphic>
          <a:graphicData uri="http://schemas.openxmlformats.org/drawingml/2006/table">
            <a:tbl>
              <a:tblPr firstRow="1" bandRow="1">
                <a:tableStyleId>{22838BEF-8BB2-4498-84A7-C5851F593DF1}</a:tableStyleId>
              </a:tblPr>
              <a:tblGrid>
                <a:gridCol w="2689013">
                  <a:extLst>
                    <a:ext uri="{9D8B030D-6E8A-4147-A177-3AD203B41FA5}">
                      <a16:colId xmlns:a16="http://schemas.microsoft.com/office/drawing/2014/main" val="2854146709"/>
                    </a:ext>
                  </a:extLst>
                </a:gridCol>
                <a:gridCol w="2689013">
                  <a:extLst>
                    <a:ext uri="{9D8B030D-6E8A-4147-A177-3AD203B41FA5}">
                      <a16:colId xmlns:a16="http://schemas.microsoft.com/office/drawing/2014/main" val="2220703561"/>
                    </a:ext>
                  </a:extLst>
                </a:gridCol>
                <a:gridCol w="2689013">
                  <a:extLst>
                    <a:ext uri="{9D8B030D-6E8A-4147-A177-3AD203B41FA5}">
                      <a16:colId xmlns:a16="http://schemas.microsoft.com/office/drawing/2014/main" val="1388319303"/>
                    </a:ext>
                  </a:extLst>
                </a:gridCol>
              </a:tblGrid>
              <a:tr h="370840">
                <a:tc>
                  <a:txBody>
                    <a:bodyPr/>
                    <a:lstStyle/>
                    <a:p>
                      <a:pPr>
                        <a:buNone/>
                      </a:pPr>
                      <a:r>
                        <a:rPr lang="en-IN" b="1"/>
                        <a:t>Class</a:t>
                      </a:r>
                      <a:endParaRPr lang="en-IN"/>
                    </a:p>
                  </a:txBody>
                  <a:tcPr anchor="ctr"/>
                </a:tc>
                <a:tc>
                  <a:txBody>
                    <a:bodyPr/>
                    <a:lstStyle/>
                    <a:p>
                      <a:pPr>
                        <a:buNone/>
                      </a:pPr>
                      <a:r>
                        <a:rPr lang="en-IN" b="1"/>
                        <a:t>Samples</a:t>
                      </a:r>
                      <a:endParaRPr lang="en-IN"/>
                    </a:p>
                  </a:txBody>
                  <a:tcPr anchor="ctr"/>
                </a:tc>
                <a:tc>
                  <a:txBody>
                    <a:bodyPr/>
                    <a:lstStyle/>
                    <a:p>
                      <a:pPr>
                        <a:buNone/>
                      </a:pPr>
                      <a:r>
                        <a:rPr lang="en-IN" b="1" dirty="0"/>
                        <a:t>Remarks</a:t>
                      </a:r>
                      <a:endParaRPr lang="en-IN" dirty="0"/>
                    </a:p>
                  </a:txBody>
                  <a:tcPr anchor="ctr"/>
                </a:tc>
                <a:extLst>
                  <a:ext uri="{0D108BD9-81ED-4DB2-BD59-A6C34878D82A}">
                    <a16:rowId xmlns:a16="http://schemas.microsoft.com/office/drawing/2014/main" val="755247071"/>
                  </a:ext>
                </a:extLst>
              </a:tr>
              <a:tr h="370840">
                <a:tc>
                  <a:txBody>
                    <a:bodyPr/>
                    <a:lstStyle/>
                    <a:p>
                      <a:pPr>
                        <a:buNone/>
                      </a:pPr>
                      <a:r>
                        <a:rPr lang="en-IN" dirty="0"/>
                        <a:t>Benign</a:t>
                      </a:r>
                    </a:p>
                  </a:txBody>
                  <a:tcPr anchor="ctr"/>
                </a:tc>
                <a:tc>
                  <a:txBody>
                    <a:bodyPr/>
                    <a:lstStyle/>
                    <a:p>
                      <a:pPr>
                        <a:buNone/>
                      </a:pPr>
                      <a:r>
                        <a:rPr lang="en-IN"/>
                        <a:t>120</a:t>
                      </a:r>
                    </a:p>
                  </a:txBody>
                  <a:tcPr anchor="ctr"/>
                </a:tc>
                <a:tc>
                  <a:txBody>
                    <a:bodyPr/>
                    <a:lstStyle/>
                    <a:p>
                      <a:pPr>
                        <a:buNone/>
                      </a:pPr>
                      <a:r>
                        <a:rPr lang="en-IN" dirty="0"/>
                        <a:t>Non-cancerous lung scans</a:t>
                      </a:r>
                    </a:p>
                  </a:txBody>
                  <a:tcPr anchor="ctr"/>
                </a:tc>
                <a:extLst>
                  <a:ext uri="{0D108BD9-81ED-4DB2-BD59-A6C34878D82A}">
                    <a16:rowId xmlns:a16="http://schemas.microsoft.com/office/drawing/2014/main" val="2773754175"/>
                  </a:ext>
                </a:extLst>
              </a:tr>
              <a:tr h="370840">
                <a:tc>
                  <a:txBody>
                    <a:bodyPr/>
                    <a:lstStyle/>
                    <a:p>
                      <a:pPr>
                        <a:buNone/>
                      </a:pPr>
                      <a:r>
                        <a:rPr lang="en-IN"/>
                        <a:t>Normal</a:t>
                      </a:r>
                    </a:p>
                  </a:txBody>
                  <a:tcPr anchor="ctr"/>
                </a:tc>
                <a:tc>
                  <a:txBody>
                    <a:bodyPr/>
                    <a:lstStyle/>
                    <a:p>
                      <a:pPr>
                        <a:buNone/>
                      </a:pPr>
                      <a:r>
                        <a:rPr lang="en-IN"/>
                        <a:t>631</a:t>
                      </a:r>
                    </a:p>
                  </a:txBody>
                  <a:tcPr anchor="ctr"/>
                </a:tc>
                <a:tc>
                  <a:txBody>
                    <a:bodyPr/>
                    <a:lstStyle/>
                    <a:p>
                      <a:pPr>
                        <a:buNone/>
                      </a:pPr>
                      <a:r>
                        <a:rPr lang="en-IN" dirty="0"/>
                        <a:t>Healthy lung scans</a:t>
                      </a:r>
                    </a:p>
                  </a:txBody>
                  <a:tcPr anchor="ctr"/>
                </a:tc>
                <a:extLst>
                  <a:ext uri="{0D108BD9-81ED-4DB2-BD59-A6C34878D82A}">
                    <a16:rowId xmlns:a16="http://schemas.microsoft.com/office/drawing/2014/main" val="669380290"/>
                  </a:ext>
                </a:extLst>
              </a:tr>
              <a:tr h="370840">
                <a:tc>
                  <a:txBody>
                    <a:bodyPr/>
                    <a:lstStyle/>
                    <a:p>
                      <a:pPr>
                        <a:buNone/>
                      </a:pPr>
                      <a:r>
                        <a:rPr lang="en-IN"/>
                        <a:t>Adenocarcinoma</a:t>
                      </a:r>
                    </a:p>
                  </a:txBody>
                  <a:tcPr anchor="ctr"/>
                </a:tc>
                <a:tc>
                  <a:txBody>
                    <a:bodyPr/>
                    <a:lstStyle/>
                    <a:p>
                      <a:pPr>
                        <a:buNone/>
                      </a:pPr>
                      <a:r>
                        <a:rPr lang="en-IN"/>
                        <a:t>337</a:t>
                      </a:r>
                    </a:p>
                  </a:txBody>
                  <a:tcPr anchor="ctr"/>
                </a:tc>
                <a:tc>
                  <a:txBody>
                    <a:bodyPr/>
                    <a:lstStyle/>
                    <a:p>
                      <a:pPr>
                        <a:buNone/>
                      </a:pPr>
                      <a:r>
                        <a:rPr lang="en-IN"/>
                        <a:t>Lung adenocarcinoma subtype</a:t>
                      </a:r>
                    </a:p>
                  </a:txBody>
                  <a:tcPr anchor="ctr"/>
                </a:tc>
                <a:extLst>
                  <a:ext uri="{0D108BD9-81ED-4DB2-BD59-A6C34878D82A}">
                    <a16:rowId xmlns:a16="http://schemas.microsoft.com/office/drawing/2014/main" val="177192437"/>
                  </a:ext>
                </a:extLst>
              </a:tr>
              <a:tr h="370840">
                <a:tc>
                  <a:txBody>
                    <a:bodyPr/>
                    <a:lstStyle/>
                    <a:p>
                      <a:pPr>
                        <a:buNone/>
                      </a:pPr>
                      <a:r>
                        <a:rPr lang="en-IN"/>
                        <a:t>Large Cell Carcinoma</a:t>
                      </a:r>
                    </a:p>
                  </a:txBody>
                  <a:tcPr anchor="ctr"/>
                </a:tc>
                <a:tc>
                  <a:txBody>
                    <a:bodyPr/>
                    <a:lstStyle/>
                    <a:p>
                      <a:pPr>
                        <a:buNone/>
                      </a:pPr>
                      <a:r>
                        <a:rPr lang="en-IN" dirty="0"/>
                        <a:t>236</a:t>
                      </a:r>
                    </a:p>
                  </a:txBody>
                  <a:tcPr anchor="ctr"/>
                </a:tc>
                <a:tc>
                  <a:txBody>
                    <a:bodyPr/>
                    <a:lstStyle/>
                    <a:p>
                      <a:pPr>
                        <a:buNone/>
                      </a:pPr>
                      <a:r>
                        <a:rPr lang="en-IN"/>
                        <a:t>Rare subtype, high-grade morphology</a:t>
                      </a:r>
                    </a:p>
                  </a:txBody>
                  <a:tcPr anchor="ctr"/>
                </a:tc>
                <a:extLst>
                  <a:ext uri="{0D108BD9-81ED-4DB2-BD59-A6C34878D82A}">
                    <a16:rowId xmlns:a16="http://schemas.microsoft.com/office/drawing/2014/main" val="3413639509"/>
                  </a:ext>
                </a:extLst>
              </a:tr>
              <a:tr h="370840">
                <a:tc>
                  <a:txBody>
                    <a:bodyPr/>
                    <a:lstStyle/>
                    <a:p>
                      <a:pPr>
                        <a:buNone/>
                      </a:pPr>
                      <a:r>
                        <a:rPr lang="en-IN"/>
                        <a:t>Squamous Cell Carcinoma</a:t>
                      </a:r>
                    </a:p>
                  </a:txBody>
                  <a:tcPr anchor="ctr"/>
                </a:tc>
                <a:tc>
                  <a:txBody>
                    <a:bodyPr/>
                    <a:lstStyle/>
                    <a:p>
                      <a:pPr>
                        <a:buNone/>
                      </a:pPr>
                      <a:r>
                        <a:rPr lang="en-IN" dirty="0"/>
                        <a:t>211</a:t>
                      </a:r>
                    </a:p>
                  </a:txBody>
                  <a:tcPr anchor="ctr"/>
                </a:tc>
                <a:tc>
                  <a:txBody>
                    <a:bodyPr/>
                    <a:lstStyle/>
                    <a:p>
                      <a:pPr>
                        <a:buNone/>
                      </a:pPr>
                      <a:r>
                        <a:rPr lang="en-US" dirty="0"/>
                        <a:t>Lung squamous cell carcinoma subtype</a:t>
                      </a:r>
                    </a:p>
                  </a:txBody>
                  <a:tcPr anchor="ctr"/>
                </a:tc>
                <a:extLst>
                  <a:ext uri="{0D108BD9-81ED-4DB2-BD59-A6C34878D82A}">
                    <a16:rowId xmlns:a16="http://schemas.microsoft.com/office/drawing/2014/main" val="1007159939"/>
                  </a:ext>
                </a:extLst>
              </a:tr>
            </a:tbl>
          </a:graphicData>
        </a:graphic>
      </p:graphicFrame>
    </p:spTree>
    <p:extLst>
      <p:ext uri="{BB962C8B-B14F-4D97-AF65-F5344CB8AC3E}">
        <p14:creationId xmlns:p14="http://schemas.microsoft.com/office/powerpoint/2010/main" val="42524046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B1E386FE-6246-9A9A-C578-A7F9D490BC78}"/>
            </a:ext>
          </a:extLst>
        </p:cNvPr>
        <p:cNvGrpSpPr/>
        <p:nvPr/>
      </p:nvGrpSpPr>
      <p:grpSpPr>
        <a:xfrm>
          <a:off x="0" y="0"/>
          <a:ext cx="0" cy="0"/>
          <a:chOff x="0" y="0"/>
          <a:chExt cx="0" cy="0"/>
        </a:xfrm>
      </p:grpSpPr>
      <p:pic>
        <p:nvPicPr>
          <p:cNvPr id="98" name="Google Shape;98;p2">
            <a:extLst>
              <a:ext uri="{FF2B5EF4-FFF2-40B4-BE49-F238E27FC236}">
                <a16:creationId xmlns:a16="http://schemas.microsoft.com/office/drawing/2014/main" id="{ADF09513-0F75-F63A-08CC-91E18C4EF7C0}"/>
              </a:ext>
            </a:extLst>
          </p:cNvPr>
          <p:cNvPicPr preferRelativeResize="0"/>
          <p:nvPr/>
        </p:nvPicPr>
        <p:blipFill rotWithShape="1">
          <a:blip r:embed="rId3">
            <a:alphaModFix/>
          </a:blip>
          <a:srcRect/>
          <a:stretch/>
        </p:blipFill>
        <p:spPr>
          <a:xfrm>
            <a:off x="0" y="99321"/>
            <a:ext cx="1345676" cy="454032"/>
          </a:xfrm>
          <a:prstGeom prst="rect">
            <a:avLst/>
          </a:prstGeom>
          <a:noFill/>
          <a:ln>
            <a:noFill/>
          </a:ln>
        </p:spPr>
      </p:pic>
      <p:sp>
        <p:nvSpPr>
          <p:cNvPr id="96" name="Google Shape;96;p2">
            <a:extLst>
              <a:ext uri="{FF2B5EF4-FFF2-40B4-BE49-F238E27FC236}">
                <a16:creationId xmlns:a16="http://schemas.microsoft.com/office/drawing/2014/main" id="{41807C03-2AA1-97A4-B1C3-BFB6F8D9ACAE}"/>
              </a:ext>
            </a:extLst>
          </p:cNvPr>
          <p:cNvSpPr txBox="1">
            <a:spLocks noGrp="1"/>
          </p:cNvSpPr>
          <p:nvPr>
            <p:ph type="title"/>
          </p:nvPr>
        </p:nvSpPr>
        <p:spPr>
          <a:xfrm>
            <a:off x="457200" y="354620"/>
            <a:ext cx="8229600" cy="1143000"/>
          </a:xfrm>
          <a:prstGeom prst="rect">
            <a:avLst/>
          </a:prstGeom>
          <a:noFill/>
          <a:ln>
            <a:noFill/>
          </a:ln>
        </p:spPr>
        <p:txBody>
          <a:bodyPr spcFirstLastPara="1" wrap="square" lIns="91425" tIns="45700" rIns="91425" bIns="45700" anchor="ctr" anchorCtr="0">
            <a:normAutofit fontScale="90000"/>
          </a:bodyPr>
          <a:lstStyle/>
          <a:p>
            <a:r>
              <a:rPr lang="en-US" b="1" dirty="0"/>
              <a:t>Expected Outcomes and Deliverables</a:t>
            </a:r>
          </a:p>
        </p:txBody>
      </p:sp>
      <p:sp>
        <p:nvSpPr>
          <p:cNvPr id="99" name="Google Shape;99;p2">
            <a:extLst>
              <a:ext uri="{FF2B5EF4-FFF2-40B4-BE49-F238E27FC236}">
                <a16:creationId xmlns:a16="http://schemas.microsoft.com/office/drawing/2014/main" id="{DE51B12F-6133-84A5-8C37-AD0DE1EF2B5B}"/>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fld id="{D15CBDC1-4D60-49C2-8F68-274855D002DB}" type="datetime1">
              <a:rPr lang="en-US" smtClean="0"/>
              <a:t>11/8/2025</a:t>
            </a:fld>
            <a:endParaRPr dirty="0"/>
          </a:p>
        </p:txBody>
      </p:sp>
      <p:sp>
        <p:nvSpPr>
          <p:cNvPr id="100" name="Google Shape;100;p2">
            <a:extLst>
              <a:ext uri="{FF2B5EF4-FFF2-40B4-BE49-F238E27FC236}">
                <a16:creationId xmlns:a16="http://schemas.microsoft.com/office/drawing/2014/main" id="{5BAC5C48-03BA-6B6F-AA8B-0B4ABCB2E031}"/>
              </a:ext>
            </a:extLst>
          </p:cNvPr>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01" name="Google Shape;101;p2">
            <a:extLst>
              <a:ext uri="{FF2B5EF4-FFF2-40B4-BE49-F238E27FC236}">
                <a16:creationId xmlns:a16="http://schemas.microsoft.com/office/drawing/2014/main" id="{EF4E9BB6-6F19-C05A-B043-813D2A8DB6FA}"/>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
        <p:nvSpPr>
          <p:cNvPr id="7" name="Rectangle 5">
            <a:extLst>
              <a:ext uri="{FF2B5EF4-FFF2-40B4-BE49-F238E27FC236}">
                <a16:creationId xmlns:a16="http://schemas.microsoft.com/office/drawing/2014/main" id="{0AE505AF-C6A5-C616-C3C1-910BC92CDA71}"/>
              </a:ext>
            </a:extLst>
          </p:cNvPr>
          <p:cNvSpPr>
            <a:spLocks noGrp="1" noChangeArrowheads="1"/>
          </p:cNvSpPr>
          <p:nvPr>
            <p:ph type="body" idx="1"/>
          </p:nvPr>
        </p:nvSpPr>
        <p:spPr bwMode="auto">
          <a:xfrm>
            <a:off x="542041" y="1409365"/>
            <a:ext cx="7706412" cy="492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spcBef>
                <a:spcPct val="0"/>
              </a:spcBef>
              <a:spcAft>
                <a:spcPct val="0"/>
              </a:spcAft>
              <a:buClrTx/>
              <a:buSzTx/>
              <a:buNone/>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Research Outcomes: </a:t>
            </a:r>
          </a:p>
          <a:p>
            <a:pPr marL="285750" indent="-285750" eaLnBrk="0" fontAlgn="base" hangingPunct="0">
              <a:spcBef>
                <a:spcPct val="0"/>
              </a:spcBef>
              <a:spcAft>
                <a:spcPct val="0"/>
              </a:spcAft>
              <a:buClrTx/>
              <a:buSzTx/>
            </a:pP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Development of a high-accuracy multi-class lung cancer classifier using a hybrid CNN–</a:t>
            </a:r>
            <a:r>
              <a:rPr kumimoji="0" lang="en-US" altLang="en-US" sz="1400" i="0" u="none" strike="noStrike" cap="none" normalizeH="0" baseline="0" dirty="0" err="1">
                <a:ln>
                  <a:noFill/>
                </a:ln>
                <a:solidFill>
                  <a:schemeClr val="tx1"/>
                </a:solidFill>
                <a:effectLst/>
                <a:latin typeface="+mj-lt"/>
                <a:ea typeface="Calibri" panose="020F0502020204030204" pitchFamily="34" charset="0"/>
                <a:cs typeface="Calibri" panose="020F0502020204030204" pitchFamily="34" charset="0"/>
              </a:rPr>
              <a:t>ViT</a:t>
            </a: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architecture.</a:t>
            </a:r>
          </a:p>
          <a:p>
            <a:pPr marL="285750" indent="-285750" eaLnBrk="0" fontAlgn="base" hangingPunct="0">
              <a:spcBef>
                <a:spcPct val="0"/>
              </a:spcBef>
              <a:spcAft>
                <a:spcPct val="0"/>
              </a:spcAft>
              <a:buClrTx/>
              <a:buSzTx/>
            </a:pP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Publication-ready insights on Explainable AI (XAI) and RAG-based knowledge retrieval for clinical diagnostics.</a:t>
            </a:r>
          </a:p>
          <a:p>
            <a:pPr marL="285750" indent="-285750" eaLnBrk="0" fontAlgn="base" hangingPunct="0">
              <a:spcBef>
                <a:spcPct val="0"/>
              </a:spcBef>
              <a:spcAft>
                <a:spcPct val="0"/>
              </a:spcAft>
              <a:buClrTx/>
              <a:buSzTx/>
            </a:pP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Demonstration of how explainability enhances trust and transparency in medical AI models.</a:t>
            </a:r>
          </a:p>
          <a:p>
            <a:pPr marL="0" indent="0" eaLnBrk="0" fontAlgn="base" hangingPunct="0">
              <a:spcBef>
                <a:spcPct val="0"/>
              </a:spcBef>
              <a:spcAft>
                <a:spcPct val="0"/>
              </a:spcAft>
              <a:buClrTx/>
              <a:buSzTx/>
              <a:buNone/>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Technical Deliverables: </a:t>
            </a:r>
          </a:p>
          <a:p>
            <a:pPr marL="285750" indent="-285750" eaLnBrk="0" fontAlgn="base" hangingPunct="0">
              <a:spcBef>
                <a:spcPct val="0"/>
              </a:spcBef>
              <a:spcAft>
                <a:spcPct val="0"/>
              </a:spcAft>
              <a:buClrTx/>
              <a:buSzTx/>
            </a:pP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Trained AI Model: Multi-class classifier (Adenocarcinoma, Squamous Cell Carcinoma, Large Cell Carcinoma, Normal) optimized with Grad-CAM and SHAP integration.</a:t>
            </a:r>
          </a:p>
          <a:p>
            <a:pPr marL="285750" indent="-285750" eaLnBrk="0" fontAlgn="base" hangingPunct="0">
              <a:spcBef>
                <a:spcPct val="0"/>
              </a:spcBef>
              <a:spcAft>
                <a:spcPct val="0"/>
              </a:spcAft>
              <a:buClrTx/>
              <a:buSzTx/>
            </a:pP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XAI Visualization Dashboard: Displays CT images with heatmaps and class-wise confidence scores.</a:t>
            </a:r>
          </a:p>
          <a:p>
            <a:pPr marL="285750" indent="-285750" eaLnBrk="0" fontAlgn="base" hangingPunct="0">
              <a:spcBef>
                <a:spcPct val="0"/>
              </a:spcBef>
              <a:spcAft>
                <a:spcPct val="0"/>
              </a:spcAft>
              <a:buClrTx/>
              <a:buSzTx/>
            </a:pP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RAG Module: Links model outputs with relevant medical literature from PubMed or NCCN guidelines.</a:t>
            </a:r>
          </a:p>
          <a:p>
            <a:pPr marL="285750" indent="-285750" eaLnBrk="0" fontAlgn="base" hangingPunct="0">
              <a:spcBef>
                <a:spcPct val="0"/>
              </a:spcBef>
              <a:spcAft>
                <a:spcPct val="0"/>
              </a:spcAft>
              <a:buClrTx/>
              <a:buSzTx/>
            </a:pP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Web-based Interface (Prototype): Enables clinicians to upload scans and view real-time, explainable predictions.</a:t>
            </a:r>
          </a:p>
          <a:p>
            <a:pPr marL="285750" indent="-285750" eaLnBrk="0" fontAlgn="base" hangingPunct="0">
              <a:spcBef>
                <a:spcPct val="0"/>
              </a:spcBef>
              <a:spcAft>
                <a:spcPct val="0"/>
              </a:spcAft>
              <a:buClrTx/>
              <a:buSzTx/>
            </a:pP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Comprehensive Project Report &amp; Documentation: Includes dataset preprocessing, architecture details, results, and evaluation.</a:t>
            </a:r>
          </a:p>
          <a:p>
            <a:pPr marL="0" indent="0" eaLnBrk="0" fontAlgn="base" hangingPunct="0">
              <a:spcBef>
                <a:spcPct val="0"/>
              </a:spcBef>
              <a:spcAft>
                <a:spcPct val="0"/>
              </a:spcAft>
              <a:buClrTx/>
              <a:buSzTx/>
              <a:buNone/>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Expected Impact: </a:t>
            </a:r>
          </a:p>
          <a:p>
            <a:pPr marL="285750" indent="-285750" eaLnBrk="0" fontAlgn="base" hangingPunct="0">
              <a:spcBef>
                <a:spcPct val="0"/>
              </a:spcBef>
              <a:spcAft>
                <a:spcPct val="0"/>
              </a:spcAft>
              <a:buClrTx/>
              <a:buSzTx/>
            </a:pP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Enhances early lung cancer detection through interpretable AI support.</a:t>
            </a:r>
          </a:p>
          <a:p>
            <a:pPr marL="285750" indent="-285750" eaLnBrk="0" fontAlgn="base" hangingPunct="0">
              <a:spcBef>
                <a:spcPct val="0"/>
              </a:spcBef>
              <a:spcAft>
                <a:spcPct val="0"/>
              </a:spcAft>
              <a:buClrTx/>
              <a:buSzTx/>
            </a:pP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Promotes clinical adoption by addressing the “black box” limitation of deep learning models.</a:t>
            </a:r>
          </a:p>
          <a:p>
            <a:pPr marL="285750" indent="-285750" eaLnBrk="0" fontAlgn="base" hangingPunct="0">
              <a:spcBef>
                <a:spcPct val="0"/>
              </a:spcBef>
              <a:spcAft>
                <a:spcPct val="0"/>
              </a:spcAft>
              <a:buClrTx/>
              <a:buSzTx/>
            </a:pPr>
            <a:r>
              <a:rPr kumimoji="0" lang="en-US" altLang="en-US" sz="140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Contributes to sustainable healthcare innovation aligned with SDG 3 (Good Health &amp; Well-being).</a:t>
            </a:r>
            <a:endParaRPr kumimoji="0" lang="en-US" altLang="en-US" sz="140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6716294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D8CCA24F-703E-5A33-7E03-CC6E6625A942}"/>
            </a:ext>
          </a:extLst>
        </p:cNvPr>
        <p:cNvGrpSpPr/>
        <p:nvPr/>
      </p:nvGrpSpPr>
      <p:grpSpPr>
        <a:xfrm>
          <a:off x="0" y="0"/>
          <a:ext cx="0" cy="0"/>
          <a:chOff x="0" y="0"/>
          <a:chExt cx="0" cy="0"/>
        </a:xfrm>
      </p:grpSpPr>
      <p:pic>
        <p:nvPicPr>
          <p:cNvPr id="98" name="Google Shape;98;p2">
            <a:extLst>
              <a:ext uri="{FF2B5EF4-FFF2-40B4-BE49-F238E27FC236}">
                <a16:creationId xmlns:a16="http://schemas.microsoft.com/office/drawing/2014/main" id="{C29F9D44-1C0E-DC35-6D72-E092D5A75311}"/>
              </a:ext>
            </a:extLst>
          </p:cNvPr>
          <p:cNvPicPr preferRelativeResize="0"/>
          <p:nvPr/>
        </p:nvPicPr>
        <p:blipFill rotWithShape="1">
          <a:blip r:embed="rId3">
            <a:alphaModFix/>
          </a:blip>
          <a:srcRect/>
          <a:stretch/>
        </p:blipFill>
        <p:spPr>
          <a:xfrm>
            <a:off x="0" y="99321"/>
            <a:ext cx="1345676" cy="454032"/>
          </a:xfrm>
          <a:prstGeom prst="rect">
            <a:avLst/>
          </a:prstGeom>
          <a:noFill/>
          <a:ln>
            <a:noFill/>
          </a:ln>
        </p:spPr>
      </p:pic>
      <p:sp>
        <p:nvSpPr>
          <p:cNvPr id="96" name="Google Shape;96;p2">
            <a:extLst>
              <a:ext uri="{FF2B5EF4-FFF2-40B4-BE49-F238E27FC236}">
                <a16:creationId xmlns:a16="http://schemas.microsoft.com/office/drawing/2014/main" id="{CF7BBB14-C4EA-7FE8-EFB6-EFFDD3DC22B2}"/>
              </a:ext>
            </a:extLst>
          </p:cNvPr>
          <p:cNvSpPr txBox="1">
            <a:spLocks noGrp="1"/>
          </p:cNvSpPr>
          <p:nvPr>
            <p:ph type="title"/>
          </p:nvPr>
        </p:nvSpPr>
        <p:spPr>
          <a:xfrm>
            <a:off x="457200" y="354620"/>
            <a:ext cx="8229600" cy="1143000"/>
          </a:xfrm>
          <a:prstGeom prst="rect">
            <a:avLst/>
          </a:prstGeom>
          <a:noFill/>
          <a:ln>
            <a:noFill/>
          </a:ln>
        </p:spPr>
        <p:txBody>
          <a:bodyPr spcFirstLastPara="1" wrap="square" lIns="91425" tIns="45700" rIns="91425" bIns="45700" anchor="ctr" anchorCtr="0">
            <a:normAutofit/>
          </a:bodyPr>
          <a:lstStyle/>
          <a:p>
            <a:r>
              <a:rPr lang="en-US" b="1" dirty="0"/>
              <a:t>Conclusion/Future Scope</a:t>
            </a:r>
          </a:p>
        </p:txBody>
      </p:sp>
      <p:sp>
        <p:nvSpPr>
          <p:cNvPr id="99" name="Google Shape;99;p2">
            <a:extLst>
              <a:ext uri="{FF2B5EF4-FFF2-40B4-BE49-F238E27FC236}">
                <a16:creationId xmlns:a16="http://schemas.microsoft.com/office/drawing/2014/main" id="{67E52388-F704-2B4E-F241-84AD4A8D5B92}"/>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fld id="{D15CBDC1-4D60-49C2-8F68-274855D002DB}" type="datetime1">
              <a:rPr lang="en-US" smtClean="0"/>
              <a:t>11/8/2025</a:t>
            </a:fld>
            <a:endParaRPr dirty="0"/>
          </a:p>
        </p:txBody>
      </p:sp>
      <p:sp>
        <p:nvSpPr>
          <p:cNvPr id="100" name="Google Shape;100;p2">
            <a:extLst>
              <a:ext uri="{FF2B5EF4-FFF2-40B4-BE49-F238E27FC236}">
                <a16:creationId xmlns:a16="http://schemas.microsoft.com/office/drawing/2014/main" id="{B236D3BB-EA19-6FC0-FF3B-77D6A4CD7844}"/>
              </a:ext>
            </a:extLst>
          </p:cNvPr>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01" name="Google Shape;101;p2">
            <a:extLst>
              <a:ext uri="{FF2B5EF4-FFF2-40B4-BE49-F238E27FC236}">
                <a16:creationId xmlns:a16="http://schemas.microsoft.com/office/drawing/2014/main" id="{CEDD5182-4BC6-64FC-27FB-D91319600896}"/>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
        <p:nvSpPr>
          <p:cNvPr id="7" name="Rectangle 5">
            <a:extLst>
              <a:ext uri="{FF2B5EF4-FFF2-40B4-BE49-F238E27FC236}">
                <a16:creationId xmlns:a16="http://schemas.microsoft.com/office/drawing/2014/main" id="{A1CA74CC-DE15-B428-6732-268693E3E400}"/>
              </a:ext>
            </a:extLst>
          </p:cNvPr>
          <p:cNvSpPr>
            <a:spLocks noGrp="1" noChangeArrowheads="1"/>
          </p:cNvSpPr>
          <p:nvPr>
            <p:ph type="body" idx="1"/>
          </p:nvPr>
        </p:nvSpPr>
        <p:spPr bwMode="auto">
          <a:xfrm>
            <a:off x="542041" y="1732532"/>
            <a:ext cx="7706412"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spcBef>
                <a:spcPct val="0"/>
              </a:spcBef>
              <a:spcAft>
                <a:spcPct val="0"/>
              </a:spcAft>
              <a:buClrTx/>
              <a:buSzTx/>
              <a:buNone/>
            </a:pPr>
            <a:r>
              <a:rPr lang="en-US" alt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rPr>
              <a:t>Conclusion:</a:t>
            </a:r>
          </a:p>
          <a:p>
            <a:pPr marL="285750" indent="-285750" eaLnBrk="0" fontAlgn="base" hangingPunct="0">
              <a:spcBef>
                <a:spcPct val="0"/>
              </a:spcBef>
              <a:spcAft>
                <a:spcPct val="0"/>
              </a:spcAft>
              <a:buClrTx/>
              <a:buSzTx/>
            </a:pPr>
            <a:r>
              <a:rPr lang="en-US" altLang="en-US" sz="1600" dirty="0">
                <a:solidFill>
                  <a:schemeClr val="tx1"/>
                </a:solidFill>
                <a:ea typeface="Calibri" panose="020F0502020204030204" pitchFamily="34" charset="0"/>
                <a:cs typeface="Calibri" panose="020F0502020204030204" pitchFamily="34" charset="0"/>
              </a:rPr>
              <a:t>The proposed Explainable AI framework with RAG integration represents a step toward trustworthy, interpretable, and evidence-informed cancer diagnostics.</a:t>
            </a:r>
          </a:p>
          <a:p>
            <a:pPr marL="285750" indent="-285750" eaLnBrk="0" fontAlgn="base" hangingPunct="0">
              <a:spcBef>
                <a:spcPct val="0"/>
              </a:spcBef>
              <a:spcAft>
                <a:spcPct val="0"/>
              </a:spcAft>
              <a:buClrTx/>
              <a:buSzTx/>
            </a:pPr>
            <a:r>
              <a:rPr lang="en-US" altLang="en-US" sz="1600" dirty="0">
                <a:solidFill>
                  <a:schemeClr val="tx1"/>
                </a:solidFill>
                <a:ea typeface="Calibri" panose="020F0502020204030204" pitchFamily="34" charset="0"/>
                <a:cs typeface="Calibri" panose="020F0502020204030204" pitchFamily="34" charset="0"/>
              </a:rPr>
              <a:t>It bridges the gap between deep learning accuracy and clinical reasoning—offering a scalable model for future medical AI advancements. </a:t>
            </a:r>
          </a:p>
          <a:p>
            <a:pPr marL="285750" indent="-285750" eaLnBrk="0" fontAlgn="base" hangingPunct="0">
              <a:spcBef>
                <a:spcPct val="0"/>
              </a:spcBef>
              <a:spcAft>
                <a:spcPct val="0"/>
              </a:spcAft>
              <a:buClrTx/>
              <a:buSzTx/>
            </a:pPr>
            <a:endParaRPr lang="en-US" altLang="en-US"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indent="0" eaLnBrk="0" fontAlgn="base" hangingPunct="0">
              <a:spcBef>
                <a:spcPct val="0"/>
              </a:spcBef>
              <a:spcAft>
                <a:spcPct val="0"/>
              </a:spcAft>
              <a:buClrTx/>
              <a:buSzTx/>
              <a:buNone/>
            </a:pPr>
            <a:r>
              <a:rPr kumimoji="0" lang="en-US" altLang="en-US" sz="1600" b="1" i="0"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Future Enhancements: </a:t>
            </a:r>
          </a:p>
          <a:p>
            <a:pPr marL="285750" indent="-285750" eaLnBrk="0" fontAlgn="base" hangingPunct="0">
              <a:spcBef>
                <a:spcPct val="0"/>
              </a:spcBef>
              <a:spcAft>
                <a:spcPct val="0"/>
              </a:spcAft>
              <a:buClrTx/>
              <a:buSzTx/>
            </a:pPr>
            <a:r>
              <a:rPr kumimoji="0" lang="en-US" altLang="en-US" sz="1400" i="0"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Model Expansion: Extend classification to include rare lung cancer subtypes and integrate histopathology-image fusion for multi-modal learning.</a:t>
            </a:r>
          </a:p>
          <a:p>
            <a:pPr marL="285750" indent="-285750" eaLnBrk="0" fontAlgn="base" hangingPunct="0">
              <a:spcBef>
                <a:spcPct val="0"/>
              </a:spcBef>
              <a:spcAft>
                <a:spcPct val="0"/>
              </a:spcAft>
              <a:buClrTx/>
              <a:buSzTx/>
            </a:pPr>
            <a:r>
              <a:rPr kumimoji="0" lang="en-US" altLang="en-US" sz="1400" i="0"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Clinical Integration: Collaborate with hospitals to conduct real-world validation studies and refine performance using clinical feedback.</a:t>
            </a:r>
          </a:p>
          <a:p>
            <a:pPr marL="285750" indent="-285750" eaLnBrk="0" fontAlgn="base" hangingPunct="0">
              <a:spcBef>
                <a:spcPct val="0"/>
              </a:spcBef>
              <a:spcAft>
                <a:spcPct val="0"/>
              </a:spcAft>
              <a:buClrTx/>
              <a:buSzTx/>
            </a:pPr>
            <a:r>
              <a:rPr kumimoji="0" lang="en-US" altLang="en-US" sz="1400" i="0"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Automated Reporting: Generate structured diagnostic summaries and evidence-based recommendations through advanced RAG prompting.</a:t>
            </a:r>
          </a:p>
          <a:p>
            <a:pPr marL="285750" indent="-285750" eaLnBrk="0" fontAlgn="base" hangingPunct="0">
              <a:spcBef>
                <a:spcPct val="0"/>
              </a:spcBef>
              <a:spcAft>
                <a:spcPct val="0"/>
              </a:spcAft>
              <a:buClrTx/>
              <a:buSzTx/>
            </a:pPr>
            <a:r>
              <a:rPr kumimoji="0" lang="en-US" altLang="en-US" sz="1400" i="0"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Edge &amp; Cloud Deployment: Optimize the model for real-time inference on hospital servers, IoT-enabled scanners, and mobile diagnostic units.</a:t>
            </a:r>
          </a:p>
          <a:p>
            <a:pPr marL="285750" indent="-285750" eaLnBrk="0" fontAlgn="base" hangingPunct="0">
              <a:spcBef>
                <a:spcPct val="0"/>
              </a:spcBef>
              <a:spcAft>
                <a:spcPct val="0"/>
              </a:spcAft>
              <a:buClrTx/>
              <a:buSzTx/>
            </a:pPr>
            <a:r>
              <a:rPr kumimoji="0" lang="en-US" altLang="en-US" sz="1400" i="0"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Federated Learning Framework: Enable privacy-preserving training across institutions to enhance dataset diversity without sharing raw patient data.</a:t>
            </a:r>
          </a:p>
          <a:p>
            <a:pPr marL="0" indent="0" eaLnBrk="0" fontAlgn="base" hangingPunct="0">
              <a:spcBef>
                <a:spcPct val="0"/>
              </a:spcBef>
              <a:spcAft>
                <a:spcPct val="0"/>
              </a:spcAft>
              <a:buClrTx/>
              <a:buSzTx/>
              <a:buNone/>
            </a:pPr>
            <a:endParaRPr kumimoji="0" lang="en-US" altLang="en-US" sz="1600" i="0"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75713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A2C764FF-F359-C3F3-F632-B5F712BB7959}"/>
            </a:ext>
          </a:extLst>
        </p:cNvPr>
        <p:cNvGrpSpPr/>
        <p:nvPr/>
      </p:nvGrpSpPr>
      <p:grpSpPr>
        <a:xfrm>
          <a:off x="0" y="0"/>
          <a:ext cx="0" cy="0"/>
          <a:chOff x="0" y="0"/>
          <a:chExt cx="0" cy="0"/>
        </a:xfrm>
      </p:grpSpPr>
      <p:pic>
        <p:nvPicPr>
          <p:cNvPr id="98" name="Google Shape;98;p2">
            <a:extLst>
              <a:ext uri="{FF2B5EF4-FFF2-40B4-BE49-F238E27FC236}">
                <a16:creationId xmlns:a16="http://schemas.microsoft.com/office/drawing/2014/main" id="{D43A6859-F805-986C-5353-FCAF7FD342F7}"/>
              </a:ext>
            </a:extLst>
          </p:cNvPr>
          <p:cNvPicPr preferRelativeResize="0"/>
          <p:nvPr/>
        </p:nvPicPr>
        <p:blipFill rotWithShape="1">
          <a:blip r:embed="rId3">
            <a:alphaModFix/>
          </a:blip>
          <a:srcRect/>
          <a:stretch/>
        </p:blipFill>
        <p:spPr>
          <a:xfrm>
            <a:off x="0" y="99321"/>
            <a:ext cx="1345676" cy="454032"/>
          </a:xfrm>
          <a:prstGeom prst="rect">
            <a:avLst/>
          </a:prstGeom>
          <a:noFill/>
          <a:ln>
            <a:noFill/>
          </a:ln>
        </p:spPr>
      </p:pic>
      <p:sp>
        <p:nvSpPr>
          <p:cNvPr id="96" name="Google Shape;96;p2">
            <a:extLst>
              <a:ext uri="{FF2B5EF4-FFF2-40B4-BE49-F238E27FC236}">
                <a16:creationId xmlns:a16="http://schemas.microsoft.com/office/drawing/2014/main" id="{3DE91468-7E94-3E72-4911-437362B59666}"/>
              </a:ext>
            </a:extLst>
          </p:cNvPr>
          <p:cNvSpPr txBox="1">
            <a:spLocks noGrp="1"/>
          </p:cNvSpPr>
          <p:nvPr>
            <p:ph type="title"/>
          </p:nvPr>
        </p:nvSpPr>
        <p:spPr>
          <a:xfrm>
            <a:off x="457200" y="354620"/>
            <a:ext cx="8229600" cy="1143000"/>
          </a:xfrm>
          <a:prstGeom prst="rect">
            <a:avLst/>
          </a:prstGeom>
          <a:noFill/>
          <a:ln>
            <a:noFill/>
          </a:ln>
        </p:spPr>
        <p:txBody>
          <a:bodyPr spcFirstLastPara="1" wrap="square" lIns="91425" tIns="45700" rIns="91425" bIns="45700" anchor="ctr" anchorCtr="0">
            <a:normAutofit/>
          </a:bodyPr>
          <a:lstStyle/>
          <a:p>
            <a:r>
              <a:rPr lang="en-US" b="1" dirty="0"/>
              <a:t>References</a:t>
            </a:r>
          </a:p>
        </p:txBody>
      </p:sp>
      <p:sp>
        <p:nvSpPr>
          <p:cNvPr id="99" name="Google Shape;99;p2">
            <a:extLst>
              <a:ext uri="{FF2B5EF4-FFF2-40B4-BE49-F238E27FC236}">
                <a16:creationId xmlns:a16="http://schemas.microsoft.com/office/drawing/2014/main" id="{6823B3E8-CB06-CC6B-993E-BCC83F42959D}"/>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lvl="0"/>
            <a:fld id="{D15CBDC1-4D60-49C2-8F68-274855D002DB}" type="datetime1">
              <a:rPr lang="en-US" smtClean="0"/>
              <a:t>11/8/2025</a:t>
            </a:fld>
            <a:endParaRPr dirty="0"/>
          </a:p>
        </p:txBody>
      </p:sp>
      <p:sp>
        <p:nvSpPr>
          <p:cNvPr id="100" name="Google Shape;100;p2">
            <a:extLst>
              <a:ext uri="{FF2B5EF4-FFF2-40B4-BE49-F238E27FC236}">
                <a16:creationId xmlns:a16="http://schemas.microsoft.com/office/drawing/2014/main" id="{99DD56F6-FF95-AE1C-FDC2-2B2445A71EE5}"/>
              </a:ext>
            </a:extLst>
          </p:cNvPr>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01" name="Google Shape;101;p2">
            <a:extLst>
              <a:ext uri="{FF2B5EF4-FFF2-40B4-BE49-F238E27FC236}">
                <a16:creationId xmlns:a16="http://schemas.microsoft.com/office/drawing/2014/main" id="{C7FA9705-D345-1BCD-6042-A950F6C45BC8}"/>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
        <p:nvSpPr>
          <p:cNvPr id="7" name="Rectangle 5">
            <a:extLst>
              <a:ext uri="{FF2B5EF4-FFF2-40B4-BE49-F238E27FC236}">
                <a16:creationId xmlns:a16="http://schemas.microsoft.com/office/drawing/2014/main" id="{D5BFF923-5DA2-955C-3B2A-4394F1C1C6D7}"/>
              </a:ext>
            </a:extLst>
          </p:cNvPr>
          <p:cNvSpPr>
            <a:spLocks noGrp="1" noChangeArrowheads="1"/>
          </p:cNvSpPr>
          <p:nvPr>
            <p:ph type="body" idx="1"/>
          </p:nvPr>
        </p:nvSpPr>
        <p:spPr bwMode="auto">
          <a:xfrm>
            <a:off x="708186" y="5649096"/>
            <a:ext cx="7706412"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spcBef>
                <a:spcPct val="0"/>
              </a:spcBef>
              <a:spcAft>
                <a:spcPct val="0"/>
              </a:spcAft>
              <a:buClrTx/>
              <a:buSzTx/>
              <a:buNone/>
            </a:pPr>
            <a:r>
              <a:rPr lang="en-US" alt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Links: </a:t>
            </a:r>
            <a:br>
              <a:rPr lang="en-US" alt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alt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rPr>
              <a:t>Dataset: </a:t>
            </a:r>
            <a:r>
              <a:rPr lang="en-US" alt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hlinkClick r:id="rId4"/>
              </a:rPr>
              <a:t>https://www.kaggle.com/datasets/mdnafeesimtiaz/ct-scan-images-of-lung-cancer/data</a:t>
            </a:r>
            <a:endParaRPr lang="en-US" alt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indent="0" eaLnBrk="0" fontAlgn="base" hangingPunct="0">
              <a:spcBef>
                <a:spcPct val="0"/>
              </a:spcBef>
              <a:spcAft>
                <a:spcPct val="0"/>
              </a:spcAft>
              <a:buClrTx/>
              <a:buSzTx/>
              <a:buNone/>
            </a:pPr>
            <a:endParaRPr kumimoji="0" lang="en-US" altLang="en-US" sz="1600" i="0"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3" name="Table 2">
            <a:extLst>
              <a:ext uri="{FF2B5EF4-FFF2-40B4-BE49-F238E27FC236}">
                <a16:creationId xmlns:a16="http://schemas.microsoft.com/office/drawing/2014/main" id="{7F76A982-46C5-08D3-A750-DD0595FA6778}"/>
              </a:ext>
            </a:extLst>
          </p:cNvPr>
          <p:cNvGraphicFramePr>
            <a:graphicFrameLocks noGrp="1"/>
          </p:cNvGraphicFramePr>
          <p:nvPr>
            <p:extLst>
              <p:ext uri="{D42A27DB-BD31-4B8C-83A1-F6EECF244321}">
                <p14:modId xmlns:p14="http://schemas.microsoft.com/office/powerpoint/2010/main" val="2397064759"/>
              </p:ext>
            </p:extLst>
          </p:nvPr>
        </p:nvGraphicFramePr>
        <p:xfrm>
          <a:off x="708186" y="1358900"/>
          <a:ext cx="8013964" cy="3977640"/>
        </p:xfrm>
        <a:graphic>
          <a:graphicData uri="http://schemas.openxmlformats.org/drawingml/2006/table">
            <a:tbl>
              <a:tblPr firstRow="1" bandRow="1">
                <a:tableStyleId>{5C22544A-7EE6-4342-B048-85BDC9FD1C3A}</a:tableStyleId>
              </a:tblPr>
              <a:tblGrid>
                <a:gridCol w="2003491">
                  <a:extLst>
                    <a:ext uri="{9D8B030D-6E8A-4147-A177-3AD203B41FA5}">
                      <a16:colId xmlns:a16="http://schemas.microsoft.com/office/drawing/2014/main" val="3525615063"/>
                    </a:ext>
                  </a:extLst>
                </a:gridCol>
                <a:gridCol w="2003491">
                  <a:extLst>
                    <a:ext uri="{9D8B030D-6E8A-4147-A177-3AD203B41FA5}">
                      <a16:colId xmlns:a16="http://schemas.microsoft.com/office/drawing/2014/main" val="240261531"/>
                    </a:ext>
                  </a:extLst>
                </a:gridCol>
                <a:gridCol w="2003491">
                  <a:extLst>
                    <a:ext uri="{9D8B030D-6E8A-4147-A177-3AD203B41FA5}">
                      <a16:colId xmlns:a16="http://schemas.microsoft.com/office/drawing/2014/main" val="1497014446"/>
                    </a:ext>
                  </a:extLst>
                </a:gridCol>
                <a:gridCol w="2003491">
                  <a:extLst>
                    <a:ext uri="{9D8B030D-6E8A-4147-A177-3AD203B41FA5}">
                      <a16:colId xmlns:a16="http://schemas.microsoft.com/office/drawing/2014/main" val="704466766"/>
                    </a:ext>
                  </a:extLst>
                </a:gridCol>
              </a:tblGrid>
              <a:tr h="370840">
                <a:tc>
                  <a:txBody>
                    <a:bodyPr/>
                    <a:lstStyle/>
                    <a:p>
                      <a:pPr>
                        <a:buNone/>
                      </a:pPr>
                      <a:r>
                        <a:rPr lang="en-IN" sz="800" b="1" dirty="0"/>
                        <a:t>Author(s) &amp; Year</a:t>
                      </a:r>
                      <a:endParaRPr lang="en-IN" sz="800" dirty="0"/>
                    </a:p>
                  </a:txBody>
                  <a:tcPr anchor="ctr"/>
                </a:tc>
                <a:tc>
                  <a:txBody>
                    <a:bodyPr/>
                    <a:lstStyle/>
                    <a:p>
                      <a:pPr>
                        <a:buNone/>
                      </a:pPr>
                      <a:r>
                        <a:rPr lang="en-IN" sz="800" b="1"/>
                        <a:t>Topic</a:t>
                      </a:r>
                      <a:endParaRPr lang="en-IN" sz="800"/>
                    </a:p>
                  </a:txBody>
                  <a:tcPr anchor="ctr"/>
                </a:tc>
                <a:tc>
                  <a:txBody>
                    <a:bodyPr/>
                    <a:lstStyle/>
                    <a:p>
                      <a:pPr>
                        <a:buNone/>
                      </a:pPr>
                      <a:r>
                        <a:rPr lang="en-IN" sz="800" b="1"/>
                        <a:t>Paper Title / Source</a:t>
                      </a:r>
                      <a:endParaRPr lang="en-IN" sz="800"/>
                    </a:p>
                  </a:txBody>
                  <a:tcPr anchor="ctr"/>
                </a:tc>
                <a:tc>
                  <a:txBody>
                    <a:bodyPr/>
                    <a:lstStyle/>
                    <a:p>
                      <a:pPr>
                        <a:buNone/>
                      </a:pPr>
                      <a:r>
                        <a:rPr lang="en-IN" sz="800" b="1"/>
                        <a:t>Link</a:t>
                      </a:r>
                      <a:endParaRPr lang="en-IN" sz="800"/>
                    </a:p>
                  </a:txBody>
                  <a:tcPr anchor="ctr"/>
                </a:tc>
                <a:extLst>
                  <a:ext uri="{0D108BD9-81ED-4DB2-BD59-A6C34878D82A}">
                    <a16:rowId xmlns:a16="http://schemas.microsoft.com/office/drawing/2014/main" val="681950985"/>
                  </a:ext>
                </a:extLst>
              </a:tr>
              <a:tr h="370840">
                <a:tc>
                  <a:txBody>
                    <a:bodyPr/>
                    <a:lstStyle/>
                    <a:p>
                      <a:r>
                        <a:rPr lang="en-IN" sz="800" dirty="0" err="1"/>
                        <a:t>Chaddad</a:t>
                      </a:r>
                      <a:r>
                        <a:rPr lang="en-IN" sz="800" dirty="0"/>
                        <a:t> et al., 2025</a:t>
                      </a:r>
                    </a:p>
                  </a:txBody>
                  <a:tcPr anchor="ctr"/>
                </a:tc>
                <a:tc>
                  <a:txBody>
                    <a:bodyPr/>
                    <a:lstStyle/>
                    <a:p>
                      <a:pPr>
                        <a:buNone/>
                      </a:pPr>
                      <a:r>
                        <a:rPr lang="en-IN" sz="800" dirty="0"/>
                        <a:t>Deep Learning / XAI</a:t>
                      </a:r>
                    </a:p>
                  </a:txBody>
                  <a:tcPr anchor="ctr"/>
                </a:tc>
                <a:tc>
                  <a:txBody>
                    <a:bodyPr/>
                    <a:lstStyle/>
                    <a:p>
                      <a:pPr>
                        <a:buNone/>
                      </a:pPr>
                      <a:r>
                        <a:rPr lang="en-US" sz="800" i="1" dirty="0"/>
                        <a:t>Generalizable and explainable deep learning for medical imaging – </a:t>
                      </a:r>
                      <a:r>
                        <a:rPr lang="en-US" sz="800" i="1" dirty="0" err="1"/>
                        <a:t>ScienceDirec</a:t>
                      </a:r>
                      <a:endParaRPr lang="en-US" sz="800" dirty="0"/>
                    </a:p>
                  </a:txBody>
                  <a:tcPr anchor="ctr"/>
                </a:tc>
                <a:tc>
                  <a:txBody>
                    <a:bodyPr/>
                    <a:lstStyle/>
                    <a:p>
                      <a:pPr>
                        <a:buNone/>
                      </a:pPr>
                      <a:r>
                        <a:rPr lang="en-IN" sz="800" dirty="0">
                          <a:hlinkClick r:id="rId5"/>
                        </a:rPr>
                        <a:t>https://www.sciencedirect.com/science/article/pii/S1746809424014290</a:t>
                      </a:r>
                      <a:endParaRPr lang="en-IN" sz="800" dirty="0"/>
                    </a:p>
                  </a:txBody>
                  <a:tcPr anchor="ctr"/>
                </a:tc>
                <a:extLst>
                  <a:ext uri="{0D108BD9-81ED-4DB2-BD59-A6C34878D82A}">
                    <a16:rowId xmlns:a16="http://schemas.microsoft.com/office/drawing/2014/main" val="173004989"/>
                  </a:ext>
                </a:extLst>
              </a:tr>
              <a:tr h="370840">
                <a:tc>
                  <a:txBody>
                    <a:bodyPr/>
                    <a:lstStyle/>
                    <a:p>
                      <a:pPr>
                        <a:buNone/>
                      </a:pPr>
                      <a:r>
                        <a:rPr lang="en-IN" sz="800" dirty="0" err="1"/>
                        <a:t>Almattar</a:t>
                      </a:r>
                      <a:r>
                        <a:rPr lang="en-IN" sz="800" dirty="0"/>
                        <a:t> et al., 2025</a:t>
                      </a:r>
                    </a:p>
                  </a:txBody>
                  <a:tcPr anchor="ctr"/>
                </a:tc>
                <a:tc>
                  <a:txBody>
                    <a:bodyPr/>
                    <a:lstStyle/>
                    <a:p>
                      <a:pPr>
                        <a:buNone/>
                      </a:pPr>
                      <a:r>
                        <a:rPr lang="en-IN" sz="800" dirty="0"/>
                        <a:t>XAI / Grad-CAM</a:t>
                      </a:r>
                    </a:p>
                  </a:txBody>
                  <a:tcPr anchor="ctr"/>
                </a:tc>
                <a:tc>
                  <a:txBody>
                    <a:bodyPr/>
                    <a:lstStyle/>
                    <a:p>
                      <a:pPr>
                        <a:buNone/>
                      </a:pPr>
                      <a:r>
                        <a:rPr lang="en-US" sz="800" i="1" dirty="0"/>
                        <a:t>Exploring Grad-CAM Analysis of CNNs and </a:t>
                      </a:r>
                      <a:r>
                        <a:rPr lang="en-US" sz="800" i="1" dirty="0" err="1"/>
                        <a:t>ViTs</a:t>
                      </a:r>
                      <a:r>
                        <a:rPr lang="en-US" sz="800" i="1" dirty="0"/>
                        <a:t> – Journal of Advances in Information Technology (JAIT)</a:t>
                      </a:r>
                      <a:endParaRPr lang="en-US" sz="800" dirty="0"/>
                    </a:p>
                  </a:txBody>
                  <a:tcPr anchor="ctr"/>
                </a:tc>
                <a:tc>
                  <a:txBody>
                    <a:bodyPr/>
                    <a:lstStyle/>
                    <a:p>
                      <a:pPr algn="just">
                        <a:buNone/>
                      </a:pPr>
                      <a:r>
                        <a:rPr lang="en-IN" sz="800" dirty="0">
                          <a:hlinkClick r:id="rId6"/>
                        </a:rPr>
                        <a:t>http://www.jait.us/index.php?m=content&amp;c=index&amp;a=show&amp;catid=114&amp;id=3276</a:t>
                      </a:r>
                      <a:endParaRPr lang="en-IN" sz="800" dirty="0"/>
                    </a:p>
                  </a:txBody>
                  <a:tcPr anchor="ctr"/>
                </a:tc>
                <a:extLst>
                  <a:ext uri="{0D108BD9-81ED-4DB2-BD59-A6C34878D82A}">
                    <a16:rowId xmlns:a16="http://schemas.microsoft.com/office/drawing/2014/main" val="4120366283"/>
                  </a:ext>
                </a:extLst>
              </a:tr>
              <a:tr h="370840">
                <a:tc>
                  <a:txBody>
                    <a:bodyPr/>
                    <a:lstStyle/>
                    <a:p>
                      <a:pPr>
                        <a:buNone/>
                      </a:pPr>
                      <a:r>
                        <a:rPr lang="en-IN" sz="800" dirty="0" err="1"/>
                        <a:t>Mothkur</a:t>
                      </a:r>
                      <a:r>
                        <a:rPr lang="en-IN" sz="800" dirty="0"/>
                        <a:t> et al., 2025</a:t>
                      </a:r>
                    </a:p>
                  </a:txBody>
                  <a:tcPr anchor="ctr"/>
                </a:tc>
                <a:tc>
                  <a:txBody>
                    <a:bodyPr/>
                    <a:lstStyle/>
                    <a:p>
                      <a:pPr>
                        <a:buNone/>
                      </a:pPr>
                      <a:r>
                        <a:rPr lang="en-IN" sz="800" dirty="0"/>
                        <a:t>Explainable AI (XAI)</a:t>
                      </a:r>
                    </a:p>
                  </a:txBody>
                  <a:tcPr anchor="ctr"/>
                </a:tc>
                <a:tc>
                  <a:txBody>
                    <a:bodyPr/>
                    <a:lstStyle/>
                    <a:p>
                      <a:pPr>
                        <a:buNone/>
                      </a:pPr>
                      <a:r>
                        <a:rPr lang="en-US" sz="800" i="1" dirty="0"/>
                        <a:t>Grad-CAM based Visualization for Interpretable Lung Cancer Categorization using Deep CNN Models – JEEEMI</a:t>
                      </a:r>
                      <a:endParaRPr lang="en-IN" sz="800" dirty="0"/>
                    </a:p>
                  </a:txBody>
                  <a:tcPr anchor="ctr"/>
                </a:tc>
                <a:tc>
                  <a:txBody>
                    <a:bodyPr/>
                    <a:lstStyle/>
                    <a:p>
                      <a:pPr>
                        <a:buNone/>
                      </a:pPr>
                      <a:r>
                        <a:rPr lang="en-IN" sz="800" dirty="0">
                          <a:hlinkClick r:id="rId7"/>
                        </a:rPr>
                        <a:t>https://jeeemi.org/index.php/jeeemi/article/view/690</a:t>
                      </a:r>
                      <a:endParaRPr lang="en-IN" sz="800" dirty="0"/>
                    </a:p>
                  </a:txBody>
                  <a:tcPr anchor="ctr"/>
                </a:tc>
                <a:extLst>
                  <a:ext uri="{0D108BD9-81ED-4DB2-BD59-A6C34878D82A}">
                    <a16:rowId xmlns:a16="http://schemas.microsoft.com/office/drawing/2014/main" val="3017389196"/>
                  </a:ext>
                </a:extLst>
              </a:tr>
              <a:tr h="370840">
                <a:tc>
                  <a:txBody>
                    <a:bodyPr/>
                    <a:lstStyle/>
                    <a:p>
                      <a:pPr>
                        <a:buNone/>
                      </a:pPr>
                      <a:r>
                        <a:rPr lang="en-IN" sz="800" dirty="0"/>
                        <a:t>Bhavani &amp; Chithra, 2024</a:t>
                      </a:r>
                    </a:p>
                  </a:txBody>
                  <a:tcPr anchor="ctr"/>
                </a:tc>
                <a:tc>
                  <a:txBody>
                    <a:bodyPr/>
                    <a:lstStyle/>
                    <a:p>
                      <a:pPr>
                        <a:buNone/>
                      </a:pPr>
                      <a:r>
                        <a:rPr lang="en-IN" sz="800" dirty="0"/>
                        <a:t>Explainable AI (XAI)</a:t>
                      </a:r>
                    </a:p>
                  </a:txBody>
                  <a:tcPr anchor="ctr"/>
                </a:tc>
                <a:tc>
                  <a:txBody>
                    <a:bodyPr/>
                    <a:lstStyle/>
                    <a:p>
                      <a:pPr>
                        <a:buNone/>
                      </a:pPr>
                      <a:r>
                        <a:rPr lang="en-US" sz="800" i="1" dirty="0"/>
                        <a:t>3D Grad-CAM in Lung Cancer Images using Deep Learning Techniques – EAI/IACIDS Proceedings</a:t>
                      </a:r>
                      <a:endParaRPr lang="en-US" sz="800" dirty="0"/>
                    </a:p>
                  </a:txBody>
                  <a:tcPr anchor="ctr"/>
                </a:tc>
                <a:tc>
                  <a:txBody>
                    <a:bodyPr/>
                    <a:lstStyle/>
                    <a:p>
                      <a:pPr>
                        <a:buNone/>
                      </a:pPr>
                      <a:r>
                        <a:rPr lang="en-IN" sz="800" dirty="0">
                          <a:hlinkClick r:id="rId8"/>
                        </a:rPr>
                        <a:t>https://eudl.eu/doi/10.4108/eai.23-11-2023.2343226</a:t>
                      </a:r>
                      <a:endParaRPr lang="en-IN" sz="800" dirty="0"/>
                    </a:p>
                  </a:txBody>
                  <a:tcPr anchor="ctr"/>
                </a:tc>
                <a:extLst>
                  <a:ext uri="{0D108BD9-81ED-4DB2-BD59-A6C34878D82A}">
                    <a16:rowId xmlns:a16="http://schemas.microsoft.com/office/drawing/2014/main" val="2868054129"/>
                  </a:ext>
                </a:extLst>
              </a:tr>
              <a:tr h="370840">
                <a:tc>
                  <a:txBody>
                    <a:bodyPr/>
                    <a:lstStyle/>
                    <a:p>
                      <a:pPr>
                        <a:buNone/>
                      </a:pPr>
                      <a:r>
                        <a:rPr lang="en-IN" sz="800" dirty="0"/>
                        <a:t>Aftab et al., 2025</a:t>
                      </a:r>
                    </a:p>
                  </a:txBody>
                  <a:tcPr anchor="ctr"/>
                </a:tc>
                <a:tc>
                  <a:txBody>
                    <a:bodyPr/>
                    <a:lstStyle/>
                    <a:p>
                      <a:pPr>
                        <a:buNone/>
                      </a:pPr>
                      <a:r>
                        <a:rPr lang="en-IN" sz="800" dirty="0"/>
                        <a:t>Deep Learning / XAI</a:t>
                      </a:r>
                    </a:p>
                  </a:txBody>
                  <a:tcPr anchor="ctr"/>
                </a:tc>
                <a:tc>
                  <a:txBody>
                    <a:bodyPr/>
                    <a:lstStyle/>
                    <a:p>
                      <a:pPr>
                        <a:buNone/>
                      </a:pPr>
                      <a:r>
                        <a:rPr lang="en-US" sz="800" i="1" dirty="0"/>
                        <a:t>Artificial intelligence based classification and prediction of medical imaging modalities – Nature</a:t>
                      </a:r>
                      <a:endParaRPr lang="en-US" sz="800" dirty="0"/>
                    </a:p>
                  </a:txBody>
                  <a:tcPr anchor="ctr"/>
                </a:tc>
                <a:tc>
                  <a:txBody>
                    <a:bodyPr/>
                    <a:lstStyle/>
                    <a:p>
                      <a:pPr>
                        <a:buNone/>
                      </a:pPr>
                      <a:r>
                        <a:rPr lang="en-IN" sz="800" dirty="0">
                          <a:hlinkClick r:id="rId9"/>
                        </a:rPr>
                        <a:t>https://www.nature.com/articles/s41598-025-11513-2</a:t>
                      </a:r>
                      <a:endParaRPr lang="en-IN" sz="800" dirty="0"/>
                    </a:p>
                  </a:txBody>
                  <a:tcPr anchor="ctr"/>
                </a:tc>
                <a:extLst>
                  <a:ext uri="{0D108BD9-81ED-4DB2-BD59-A6C34878D82A}">
                    <a16:rowId xmlns:a16="http://schemas.microsoft.com/office/drawing/2014/main" val="3281229378"/>
                  </a:ext>
                </a:extLst>
              </a:tr>
              <a:tr h="370840">
                <a:tc>
                  <a:txBody>
                    <a:bodyPr/>
                    <a:lstStyle/>
                    <a:p>
                      <a:pPr>
                        <a:buNone/>
                      </a:pPr>
                      <a:r>
                        <a:rPr lang="en-IN" sz="800" dirty="0"/>
                        <a:t>Chen et al., 2025</a:t>
                      </a:r>
                    </a:p>
                  </a:txBody>
                  <a:tcPr anchor="ctr"/>
                </a:tc>
                <a:tc>
                  <a:txBody>
                    <a:bodyPr/>
                    <a:lstStyle/>
                    <a:p>
                      <a:pPr>
                        <a:buNone/>
                      </a:pPr>
                      <a:r>
                        <a:rPr lang="en-IN" sz="800" dirty="0"/>
                        <a:t>RAG for Clinical AI</a:t>
                      </a:r>
                    </a:p>
                  </a:txBody>
                  <a:tcPr anchor="ctr"/>
                </a:tc>
                <a:tc>
                  <a:txBody>
                    <a:bodyPr/>
                    <a:lstStyle/>
                    <a:p>
                      <a:pPr>
                        <a:buNone/>
                      </a:pPr>
                      <a:r>
                        <a:rPr lang="en-IN" sz="800" i="1" dirty="0"/>
                        <a:t>MRD-RAG: Multi-Round Retrieval-Augmented Generation for medical diagnosis</a:t>
                      </a:r>
                      <a:r>
                        <a:rPr lang="en-IN" sz="800" dirty="0"/>
                        <a:t> – </a:t>
                      </a:r>
                      <a:r>
                        <a:rPr lang="en-IN" sz="800" dirty="0" err="1"/>
                        <a:t>arXiv</a:t>
                      </a:r>
                      <a:endParaRPr lang="en-IN" sz="800" dirty="0"/>
                    </a:p>
                  </a:txBody>
                  <a:tcPr anchor="ctr"/>
                </a:tc>
                <a:tc>
                  <a:txBody>
                    <a:bodyPr/>
                    <a:lstStyle/>
                    <a:p>
                      <a:pPr>
                        <a:buNone/>
                      </a:pPr>
                      <a:r>
                        <a:rPr lang="en-IN" sz="800" dirty="0">
                          <a:hlinkClick r:id="rId10"/>
                        </a:rPr>
                        <a:t>https://arxiv.org/abs/2504.07724</a:t>
                      </a:r>
                      <a:endParaRPr lang="en-IN" sz="800" dirty="0"/>
                    </a:p>
                  </a:txBody>
                  <a:tcPr anchor="ctr"/>
                </a:tc>
                <a:extLst>
                  <a:ext uri="{0D108BD9-81ED-4DB2-BD59-A6C34878D82A}">
                    <a16:rowId xmlns:a16="http://schemas.microsoft.com/office/drawing/2014/main" val="1231585726"/>
                  </a:ext>
                </a:extLst>
              </a:tr>
              <a:tr h="370840">
                <a:tc>
                  <a:txBody>
                    <a:bodyPr/>
                    <a:lstStyle/>
                    <a:p>
                      <a:pPr>
                        <a:buNone/>
                      </a:pPr>
                      <a:r>
                        <a:rPr lang="en-IN" sz="800"/>
                        <a:t>Zhao et al., 2025</a:t>
                      </a:r>
                    </a:p>
                  </a:txBody>
                  <a:tcPr anchor="ctr"/>
                </a:tc>
                <a:tc>
                  <a:txBody>
                    <a:bodyPr/>
                    <a:lstStyle/>
                    <a:p>
                      <a:pPr>
                        <a:buNone/>
                      </a:pPr>
                      <a:r>
                        <a:rPr lang="en-IN" sz="800"/>
                        <a:t>RAG for Clinical AI</a:t>
                      </a:r>
                    </a:p>
                  </a:txBody>
                  <a:tcPr anchor="ctr"/>
                </a:tc>
                <a:tc>
                  <a:txBody>
                    <a:bodyPr/>
                    <a:lstStyle/>
                    <a:p>
                      <a:pPr>
                        <a:buNone/>
                      </a:pPr>
                      <a:r>
                        <a:rPr lang="en-US" sz="800" i="1" dirty="0" err="1"/>
                        <a:t>MedRAG</a:t>
                      </a:r>
                      <a:r>
                        <a:rPr lang="en-US" sz="800" i="1" dirty="0"/>
                        <a:t>: Knowledge Graph-Elicited RAG for Healthcare Copilot</a:t>
                      </a:r>
                      <a:r>
                        <a:rPr lang="en-US" sz="800" dirty="0"/>
                        <a:t> – </a:t>
                      </a:r>
                      <a:r>
                        <a:rPr lang="en-US" sz="800" dirty="0" err="1"/>
                        <a:t>arXiv</a:t>
                      </a:r>
                      <a:endParaRPr lang="en-US" sz="800" dirty="0"/>
                    </a:p>
                  </a:txBody>
                  <a:tcPr anchor="ctr"/>
                </a:tc>
                <a:tc>
                  <a:txBody>
                    <a:bodyPr/>
                    <a:lstStyle/>
                    <a:p>
                      <a:pPr>
                        <a:buNone/>
                      </a:pPr>
                      <a:r>
                        <a:rPr lang="en-IN" sz="800" dirty="0">
                          <a:hlinkClick r:id="rId11"/>
                        </a:rPr>
                        <a:t>https://arxiv.org/abs/2502.04413</a:t>
                      </a:r>
                      <a:endParaRPr lang="en-IN" sz="800" dirty="0"/>
                    </a:p>
                  </a:txBody>
                  <a:tcPr anchor="ctr"/>
                </a:tc>
                <a:extLst>
                  <a:ext uri="{0D108BD9-81ED-4DB2-BD59-A6C34878D82A}">
                    <a16:rowId xmlns:a16="http://schemas.microsoft.com/office/drawing/2014/main" val="1951569229"/>
                  </a:ext>
                </a:extLst>
              </a:tr>
              <a:tr h="370840">
                <a:tc>
                  <a:txBody>
                    <a:bodyPr/>
                    <a:lstStyle/>
                    <a:p>
                      <a:pPr>
                        <a:buNone/>
                      </a:pPr>
                      <a:r>
                        <a:rPr lang="en-IN" sz="800"/>
                        <a:t>Lee et al., 2024</a:t>
                      </a:r>
                    </a:p>
                  </a:txBody>
                  <a:tcPr anchor="ctr"/>
                </a:tc>
                <a:tc>
                  <a:txBody>
                    <a:bodyPr/>
                    <a:lstStyle/>
                    <a:p>
                      <a:pPr>
                        <a:buNone/>
                      </a:pPr>
                      <a:r>
                        <a:rPr lang="en-IN" sz="800"/>
                        <a:t>RAG for Clinical AI</a:t>
                      </a:r>
                    </a:p>
                  </a:txBody>
                  <a:tcPr anchor="ctr"/>
                </a:tc>
                <a:tc>
                  <a:txBody>
                    <a:bodyPr/>
                    <a:lstStyle/>
                    <a:p>
                      <a:pPr>
                        <a:buNone/>
                      </a:pPr>
                      <a:r>
                        <a:rPr lang="en-US" sz="800" i="1"/>
                        <a:t>Retrieval-Augmented Generation in Healthcare: Systematic Review</a:t>
                      </a:r>
                      <a:r>
                        <a:rPr lang="en-US" sz="800"/>
                        <a:t> – MDPI</a:t>
                      </a:r>
                    </a:p>
                  </a:txBody>
                  <a:tcPr anchor="ctr"/>
                </a:tc>
                <a:tc>
                  <a:txBody>
                    <a:bodyPr/>
                    <a:lstStyle/>
                    <a:p>
                      <a:pPr>
                        <a:buNone/>
                      </a:pPr>
                      <a:r>
                        <a:rPr lang="en-IN" sz="800" dirty="0">
                          <a:hlinkClick r:id="rId12"/>
                        </a:rPr>
                        <a:t>https://www.mdpi.com/2673-2688/6/9/226</a:t>
                      </a:r>
                      <a:endParaRPr lang="en-IN" sz="800" dirty="0"/>
                    </a:p>
                  </a:txBody>
                  <a:tcPr anchor="ctr"/>
                </a:tc>
                <a:extLst>
                  <a:ext uri="{0D108BD9-81ED-4DB2-BD59-A6C34878D82A}">
                    <a16:rowId xmlns:a16="http://schemas.microsoft.com/office/drawing/2014/main" val="2952678684"/>
                  </a:ext>
                </a:extLst>
              </a:tr>
            </a:tbl>
          </a:graphicData>
        </a:graphic>
      </p:graphicFrame>
    </p:spTree>
    <p:extLst>
      <p:ext uri="{BB962C8B-B14F-4D97-AF65-F5344CB8AC3E}">
        <p14:creationId xmlns:p14="http://schemas.microsoft.com/office/powerpoint/2010/main" val="4075415590"/>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752</TotalTime>
  <Words>2230</Words>
  <Application>Microsoft Office PowerPoint</Application>
  <PresentationFormat>On-screen Show (4:3)</PresentationFormat>
  <Paragraphs>243</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Courier New</vt:lpstr>
      <vt:lpstr>Times New Roman</vt:lpstr>
      <vt:lpstr>Office Theme</vt:lpstr>
      <vt:lpstr>Explainable AI for Multi-Class Lung Cancer Classification Using Deep Learning and RAG-Based Knowledge Retrieval</vt:lpstr>
      <vt:lpstr>Problem Identification &amp; Formulation </vt:lpstr>
      <vt:lpstr>Problem Formulation </vt:lpstr>
      <vt:lpstr>Literature Survey</vt:lpstr>
      <vt:lpstr>Gap Analysis </vt:lpstr>
      <vt:lpstr>Research Objectives</vt:lpstr>
      <vt:lpstr>Alignment with Sustainable Development Goals (SDGs)</vt:lpstr>
      <vt:lpstr>Project Timeline</vt:lpstr>
      <vt:lpstr>System Architecture </vt:lpstr>
      <vt:lpstr>System Architecture </vt:lpstr>
      <vt:lpstr>Dataset Description and Characteristics</vt:lpstr>
      <vt:lpstr>Expected Outcomes and Deliverables</vt:lpstr>
      <vt:lpstr>Conclusion/Future Scope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&lt;Title of Project&gt;</dc:title>
  <dc:creator>Kevin</dc:creator>
  <cp:lastModifiedBy>Saksham Mann</cp:lastModifiedBy>
  <cp:revision>23</cp:revision>
  <dcterms:created xsi:type="dcterms:W3CDTF">2020-05-13T07:00:09Z</dcterms:created>
  <dcterms:modified xsi:type="dcterms:W3CDTF">2025-11-08T11:31:44Z</dcterms:modified>
</cp:coreProperties>
</file>